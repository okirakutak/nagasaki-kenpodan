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9144000" cy="5143500" type="screen16x9"/>
  <p:notesSz cx="6858000" cy="9144000"/>
  <p:embeddedFontLst>
    <p:embeddedFont>
      <p:font typeface="ＭＳ Ｐゴシック" panose="020B0600070205080204" pitchFamily="34" charset="-128"/>
      <p:regular r:id="rId19"/>
    </p:embeddedFont>
    <p:embeddedFont>
      <p:font typeface="Nunito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48" y="-5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林田 慎一" userId="34a36250-6d2c-4ecc-9640-717380c50877" providerId="ADAL" clId="{2AF66C33-6321-420D-9EFC-3EA2C6BBBA26}"/>
    <pc:docChg chg="addSld modSld">
      <pc:chgData name="林田 慎一" userId="34a36250-6d2c-4ecc-9640-717380c50877" providerId="ADAL" clId="{2AF66C33-6321-420D-9EFC-3EA2C6BBBA26}" dt="2026-06-07T10:23:11.110" v="23" actId="1035"/>
      <pc:docMkLst>
        <pc:docMk/>
      </pc:docMkLst>
      <pc:sldChg chg="addSp new mod">
        <pc:chgData name="林田 慎一" userId="34a36250-6d2c-4ecc-9640-717380c50877" providerId="ADAL" clId="{2AF66C33-6321-420D-9EFC-3EA2C6BBBA26}" dt="2026-06-07T09:48:30.063" v="1" actId="22"/>
        <pc:sldMkLst>
          <pc:docMk/>
          <pc:sldMk cId="2703435366" sldId="266"/>
        </pc:sldMkLst>
        <pc:picChg chg="add">
          <ac:chgData name="林田 慎一" userId="34a36250-6d2c-4ecc-9640-717380c50877" providerId="ADAL" clId="{2AF66C33-6321-420D-9EFC-3EA2C6BBBA26}" dt="2026-06-07T09:48:30.063" v="1" actId="22"/>
          <ac:picMkLst>
            <pc:docMk/>
            <pc:sldMk cId="2703435366" sldId="266"/>
            <ac:picMk id="4" creationId="{4D19D6B0-2861-DD6B-0CC2-9C1C3E9E832F}"/>
          </ac:picMkLst>
        </pc:picChg>
      </pc:sldChg>
      <pc:sldChg chg="addSp modSp new mod">
        <pc:chgData name="林田 慎一" userId="34a36250-6d2c-4ecc-9640-717380c50877" providerId="ADAL" clId="{2AF66C33-6321-420D-9EFC-3EA2C6BBBA26}" dt="2026-06-07T10:23:11.110" v="23" actId="1035"/>
        <pc:sldMkLst>
          <pc:docMk/>
          <pc:sldMk cId="548858885" sldId="267"/>
        </pc:sldMkLst>
        <pc:picChg chg="add mod">
          <ac:chgData name="林田 慎一" userId="34a36250-6d2c-4ecc-9640-717380c50877" providerId="ADAL" clId="{2AF66C33-6321-420D-9EFC-3EA2C6BBBA26}" dt="2026-06-07T10:23:11.110" v="23" actId="1035"/>
          <ac:picMkLst>
            <pc:docMk/>
            <pc:sldMk cId="548858885" sldId="267"/>
            <ac:picMk id="4" creationId="{1ED6A3B0-033B-FE36-DE28-7FB4DA977A5E}"/>
          </ac:picMkLst>
        </pc:picChg>
      </pc:sldChg>
      <pc:sldChg chg="addSp modSp new mod">
        <pc:chgData name="林田 慎一" userId="34a36250-6d2c-4ecc-9640-717380c50877" providerId="ADAL" clId="{2AF66C33-6321-420D-9EFC-3EA2C6BBBA26}" dt="2026-06-07T09:50:23.703" v="21" actId="1036"/>
        <pc:sldMkLst>
          <pc:docMk/>
          <pc:sldMk cId="532985884" sldId="268"/>
        </pc:sldMkLst>
        <pc:picChg chg="add mod">
          <ac:chgData name="林田 慎一" userId="34a36250-6d2c-4ecc-9640-717380c50877" providerId="ADAL" clId="{2AF66C33-6321-420D-9EFC-3EA2C6BBBA26}" dt="2026-06-07T09:50:23.703" v="21" actId="1036"/>
          <ac:picMkLst>
            <pc:docMk/>
            <pc:sldMk cId="532985884" sldId="268"/>
            <ac:picMk id="4" creationId="{780094DC-F9A8-7978-71FB-2A450D906B1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ad1e87ea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ad1e87ea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8125b27f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b8125b27f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a5b3be7e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a5b3be7e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27770C72-5BF0-8281-7747-11900AE59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a5b3be7e1_0_5:notes">
            <a:extLst>
              <a:ext uri="{FF2B5EF4-FFF2-40B4-BE49-F238E27FC236}">
                <a16:creationId xmlns:a16="http://schemas.microsoft.com/office/drawing/2014/main" id="{0EC5AAA7-AD4B-B05B-12B6-DF837CAB65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a5b3be7e1_0_5:notes">
            <a:extLst>
              <a:ext uri="{FF2B5EF4-FFF2-40B4-BE49-F238E27FC236}">
                <a16:creationId xmlns:a16="http://schemas.microsoft.com/office/drawing/2014/main" id="{B37FFB35-7C58-62B7-DF60-F3C614811C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2131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8DE65B47-AC66-5316-0742-D6B20BB3B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a5b3be7e1_0_5:notes">
            <a:extLst>
              <a:ext uri="{FF2B5EF4-FFF2-40B4-BE49-F238E27FC236}">
                <a16:creationId xmlns:a16="http://schemas.microsoft.com/office/drawing/2014/main" id="{5BA33A7F-5694-F14C-AB1C-3C320E845D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a5b3be7e1_0_5:notes">
            <a:extLst>
              <a:ext uri="{FF2B5EF4-FFF2-40B4-BE49-F238E27FC236}">
                <a16:creationId xmlns:a16="http://schemas.microsoft.com/office/drawing/2014/main" id="{5ECF630F-7301-6F5A-9DB3-D4ED5E15BD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1242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CC58FD33-106F-0598-2711-E7AEC0672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a5b3be7e1_0_5:notes">
            <a:extLst>
              <a:ext uri="{FF2B5EF4-FFF2-40B4-BE49-F238E27FC236}">
                <a16:creationId xmlns:a16="http://schemas.microsoft.com/office/drawing/2014/main" id="{87C84C6A-4A98-9A39-D2B3-A7CBD6CD66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a5b3be7e1_0_5:notes">
            <a:extLst>
              <a:ext uri="{FF2B5EF4-FFF2-40B4-BE49-F238E27FC236}">
                <a16:creationId xmlns:a16="http://schemas.microsoft.com/office/drawing/2014/main" id="{EDF5A921-B434-7C7E-4C66-07F7A4260D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0345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680F7C4E-44DB-922E-92BB-2DD40CC94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a5b3be7e1_0_5:notes">
            <a:extLst>
              <a:ext uri="{FF2B5EF4-FFF2-40B4-BE49-F238E27FC236}">
                <a16:creationId xmlns:a16="http://schemas.microsoft.com/office/drawing/2014/main" id="{994F7256-CAF8-5F19-7859-EFCDB49438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a5b3be7e1_0_5:notes">
            <a:extLst>
              <a:ext uri="{FF2B5EF4-FFF2-40B4-BE49-F238E27FC236}">
                <a16:creationId xmlns:a16="http://schemas.microsoft.com/office/drawing/2014/main" id="{67CE971D-5F40-A5AB-5863-8F6B57DB5E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437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472E569A-7A6C-AAFC-870D-E2FDD8DB7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a5b3be7e1_0_5:notes">
            <a:extLst>
              <a:ext uri="{FF2B5EF4-FFF2-40B4-BE49-F238E27FC236}">
                <a16:creationId xmlns:a16="http://schemas.microsoft.com/office/drawing/2014/main" id="{B3671A7E-53BF-5316-F66D-7CCC3AAFAC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a5b3be7e1_0_5:notes">
            <a:extLst>
              <a:ext uri="{FF2B5EF4-FFF2-40B4-BE49-F238E27FC236}">
                <a16:creationId xmlns:a16="http://schemas.microsoft.com/office/drawing/2014/main" id="{2E70A95D-D129-9099-5FB4-1DA9BA4CB9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64507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CE5062E2-6646-FF7C-3153-B92A7BE80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a5b3be7e1_0_5:notes">
            <a:extLst>
              <a:ext uri="{FF2B5EF4-FFF2-40B4-BE49-F238E27FC236}">
                <a16:creationId xmlns:a16="http://schemas.microsoft.com/office/drawing/2014/main" id="{320784C4-EDEE-0BB1-B54C-E257F0774A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a5b3be7e1_0_5:notes">
            <a:extLst>
              <a:ext uri="{FF2B5EF4-FFF2-40B4-BE49-F238E27FC236}">
                <a16:creationId xmlns:a16="http://schemas.microsoft.com/office/drawing/2014/main" id="{3AB058E6-E69B-B821-B13E-271910946B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3366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293750" y="1308617"/>
            <a:ext cx="8520600" cy="5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1360"/>
              <a:t>データ分析で挑戦！「長崎県民の手取りを増やす」健康プロジェクト</a:t>
            </a:r>
            <a:endParaRPr sz="1360"/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293750" y="2116616"/>
            <a:ext cx="8520600" cy="8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ja" sz="3120" b="1"/>
              <a:t>協会けんぽ保険料削減シミュレーション</a:t>
            </a:r>
            <a:endParaRPr sz="3120" b="1"/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1"/>
          </p:nvPr>
        </p:nvSpPr>
        <p:spPr>
          <a:xfrm>
            <a:off x="293747" y="371778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altLang="en-US" sz="2000"/>
              <a:t>2026/9/〇〇</a:t>
            </a:r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1"/>
          </p:nvPr>
        </p:nvSpPr>
        <p:spPr>
          <a:xfrm>
            <a:off x="281959" y="323869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/>
              <a:t>長崎データ塾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4"/>
          <p:cNvPicPr preferRelativeResize="0"/>
          <p:nvPr/>
        </p:nvPicPr>
        <p:blipFill rotWithShape="1">
          <a:blip r:embed="rId3">
            <a:alphaModFix/>
          </a:blip>
          <a:srcRect b="38176"/>
          <a:stretch/>
        </p:blipFill>
        <p:spPr>
          <a:xfrm>
            <a:off x="303200" y="254175"/>
            <a:ext cx="8559026" cy="463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325" y="223150"/>
            <a:ext cx="8675151" cy="468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>
            <a:spLocks noGrp="1"/>
          </p:cNvSpPr>
          <p:nvPr>
            <p:ph type="ctrTitle"/>
          </p:nvPr>
        </p:nvSpPr>
        <p:spPr>
          <a:xfrm>
            <a:off x="524825" y="408100"/>
            <a:ext cx="5245200" cy="6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algn="l"/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シミュレーションの目的は何か？  </a:t>
            </a:r>
            <a:endParaRPr lang="ja" altLang="en-US" sz="2250" b="1">
              <a:solidFill>
                <a:srgbClr val="191919"/>
              </a:solidFill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677486" y="1453100"/>
            <a:ext cx="7786510" cy="3263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1100"/>
              </a:spcBef>
            </a:pPr>
            <a:r>
              <a:rPr lang="ja" sz="1700" b="1">
                <a:solidFill>
                  <a:srgbClr val="191919"/>
                </a:solidFill>
                <a:highlight>
                  <a:srgbClr val="FFFFFF"/>
                </a:highlight>
              </a:rPr>
              <a:t>  </a:t>
            </a:r>
            <a:r>
              <a:rPr lang="ja" altLang="en-US" sz="1700" b="1">
                <a:solidFill>
                  <a:srgbClr val="191919"/>
                </a:solidFill>
                <a:highlight>
                  <a:srgbClr val="FFFFFF"/>
                </a:highlight>
              </a:rPr>
              <a:t>保険料率の差は、単なる数字ではなく「県民の生活（手取り）」の差である。</a:t>
            </a:r>
          </a:p>
          <a:p>
            <a:pPr>
              <a:spcBef>
                <a:spcPts val="1100"/>
              </a:spcBef>
            </a:pPr>
            <a:r>
              <a:rPr lang="ja" altLang="en-US" sz="1700" b="1">
                <a:solidFill>
                  <a:srgbClr val="191919"/>
                </a:solidFill>
                <a:highlight>
                  <a:srgbClr val="FFFFFF"/>
                </a:highlight>
              </a:rPr>
              <a:t>全国トップレベルの健康優良県を目指すことは、県民の資産を守り、経済を活性化させることにつながる。</a:t>
            </a:r>
          </a:p>
          <a:p>
            <a:pPr>
              <a:spcBef>
                <a:spcPts val="1100"/>
              </a:spcBef>
            </a:pPr>
            <a:endParaRPr lang="ja" sz="1700" b="1">
              <a:solidFill>
                <a:srgbClr val="191919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6DD87C83-51C6-0EFF-5ACE-7E29BDAD4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BC503BBB-70D3-3AB5-8AF6-A35832853CA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24825" y="408100"/>
            <a:ext cx="8308082" cy="6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algn="l"/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altLang="ja" sz="2250" b="1" err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誰が得をするのか</a:t>
            </a:r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？</a:t>
            </a:r>
            <a:endParaRPr lang="en-US" altLang="ja" sz="2250" b="1">
              <a:solidFill>
                <a:srgbClr val="191919"/>
              </a:solidFill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149" name="Google Shape;149;p16">
            <a:extLst>
              <a:ext uri="{FF2B5EF4-FFF2-40B4-BE49-F238E27FC236}">
                <a16:creationId xmlns:a16="http://schemas.microsoft.com/office/drawing/2014/main" id="{4E39BE78-A66D-483B-C18F-62CC767F6018}"/>
              </a:ext>
            </a:extLst>
          </p:cNvPr>
          <p:cNvSpPr txBox="1"/>
          <p:nvPr/>
        </p:nvSpPr>
        <p:spPr>
          <a:xfrm>
            <a:off x="677486" y="1453100"/>
            <a:ext cx="7786510" cy="3263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1100"/>
              </a:spcBef>
            </a:pPr>
            <a:r>
              <a:rPr lang="ja" altLang="en-US" sz="1700" b="1">
                <a:solidFill>
                  <a:srgbClr val="191919"/>
                </a:solidFill>
                <a:highlight>
                  <a:srgbClr val="FFFFFF"/>
                </a:highlight>
              </a:rPr>
              <a:t>従業員： 社会保険料の天引きが減り、実質手取りが増える。</a:t>
            </a:r>
          </a:p>
          <a:p>
            <a:pPr>
              <a:spcBef>
                <a:spcPts val="1100"/>
              </a:spcBef>
            </a:pPr>
            <a:r>
              <a:rPr lang="ja" sz="1700" b="1">
                <a:solidFill>
                  <a:srgbClr val="191919"/>
                </a:solidFill>
                <a:highlight>
                  <a:srgbClr val="FFFFFF"/>
                </a:highlight>
              </a:rPr>
              <a:t>事業主： 会社負担分の保険料が削減され、その余力を賃上げや設備投資へ転換できる。</a:t>
            </a:r>
          </a:p>
          <a:p>
            <a:pPr>
              <a:spcBef>
                <a:spcPts val="1100"/>
              </a:spcBef>
            </a:pPr>
            <a:r>
              <a:rPr lang="ja" sz="1700" b="1">
                <a:solidFill>
                  <a:srgbClr val="191919"/>
                </a:solidFill>
                <a:highlight>
                  <a:srgbClr val="FFFFFF"/>
                </a:highlight>
              </a:rPr>
              <a:t>協会けんぽ： 医療費の適正化により、長期的かつ健全な財政運営が可能になる。</a:t>
            </a:r>
          </a:p>
        </p:txBody>
      </p:sp>
    </p:spTree>
    <p:extLst>
      <p:ext uri="{BB962C8B-B14F-4D97-AF65-F5344CB8AC3E}">
        <p14:creationId xmlns:p14="http://schemas.microsoft.com/office/powerpoint/2010/main" val="2597675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0D109E53-4488-5432-6CCB-0EF14ADD5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9CB3F81B-2DDA-00A9-BBF0-3799753BC54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24825" y="408100"/>
            <a:ext cx="8308082" cy="6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algn="l"/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3. 「</a:t>
            </a:r>
            <a:r>
              <a:rPr lang="en-US" altLang="ja" sz="2250" b="1" err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健康経営」は明日からの経営を変える</a:t>
            </a:r>
            <a:endParaRPr lang="en-US" altLang="ja" sz="2250" b="1" err="1">
              <a:solidFill>
                <a:srgbClr val="191919"/>
              </a:solidFill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149" name="Google Shape;149;p16">
            <a:extLst>
              <a:ext uri="{FF2B5EF4-FFF2-40B4-BE49-F238E27FC236}">
                <a16:creationId xmlns:a16="http://schemas.microsoft.com/office/drawing/2014/main" id="{10407557-D889-9F9C-B0A1-16B464C246D8}"/>
              </a:ext>
            </a:extLst>
          </p:cNvPr>
          <p:cNvSpPr txBox="1"/>
          <p:nvPr/>
        </p:nvSpPr>
        <p:spPr>
          <a:xfrm>
            <a:off x="677486" y="1283436"/>
            <a:ext cx="7786510" cy="3263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1100"/>
              </a:spcBef>
            </a:pPr>
            <a:r>
              <a:rPr lang="ja" altLang="en-US" sz="1700" b="1">
                <a:solidFill>
                  <a:srgbClr val="191919"/>
                </a:solidFill>
                <a:highlight>
                  <a:srgbClr val="FFFFFF"/>
                </a:highlight>
              </a:rPr>
              <a:t>　事業主へ： 「保険料は避けられない固定費」ではありません。「インセンティブ指標への取り組み」は、会社が納める保険料を能動的に引き下げるための「経営改善」です。</a:t>
            </a:r>
          </a:p>
          <a:p>
            <a:pPr>
              <a:spcBef>
                <a:spcPts val="1100"/>
              </a:spcBef>
            </a:pPr>
            <a:r>
              <a:rPr lang="ja" sz="1700" b="1">
                <a:solidFill>
                  <a:srgbClr val="191919"/>
                </a:solidFill>
                <a:highlight>
                  <a:srgbClr val="FFFFFF"/>
                </a:highlight>
              </a:rPr>
              <a:t>従業員へ： 「健診」はただの事務作業ではありません。将来の医療費支出を防ぎ、毎月の手取りを増やすための「一番身近な生活防衛」です。</a:t>
            </a:r>
          </a:p>
          <a:p>
            <a:pPr>
              <a:spcBef>
                <a:spcPts val="1100"/>
              </a:spcBef>
            </a:pPr>
            <a:r>
              <a:rPr lang="ja" sz="1700" b="1">
                <a:solidFill>
                  <a:srgbClr val="191919"/>
                </a:solidFill>
                <a:highlight>
                  <a:srgbClr val="FFFFFF"/>
                </a:highlight>
              </a:rPr>
              <a:t>共通認識： 会社と従業員が協力して指標を改善することが、直接的に両者の財布を潤す「賢い共同作業」です。</a:t>
            </a:r>
          </a:p>
        </p:txBody>
      </p:sp>
    </p:spTree>
    <p:extLst>
      <p:ext uri="{BB962C8B-B14F-4D97-AF65-F5344CB8AC3E}">
        <p14:creationId xmlns:p14="http://schemas.microsoft.com/office/powerpoint/2010/main" val="3049630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C538B867-3966-5CA1-1A64-6D927615B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3DD5F323-66E8-95E3-2526-E3A44C1459D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24825" y="408100"/>
            <a:ext cx="8308082" cy="6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algn="l"/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4.データ分析</a:t>
            </a:r>
            <a:endParaRPr lang="en-US" altLang="ja" sz="2250" b="1">
              <a:solidFill>
                <a:srgbClr val="191919"/>
              </a:solidFill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149" name="Google Shape;149;p16">
            <a:extLst>
              <a:ext uri="{FF2B5EF4-FFF2-40B4-BE49-F238E27FC236}">
                <a16:creationId xmlns:a16="http://schemas.microsoft.com/office/drawing/2014/main" id="{59D7744C-DD6F-F379-E778-334B4828D833}"/>
              </a:ext>
            </a:extLst>
          </p:cNvPr>
          <p:cNvSpPr txBox="1"/>
          <p:nvPr/>
        </p:nvSpPr>
        <p:spPr>
          <a:xfrm>
            <a:off x="677486" y="1027343"/>
            <a:ext cx="7786510" cy="343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1100"/>
              </a:spcBef>
            </a:pPr>
            <a:r>
              <a:rPr lang="ja" altLang="en-US" sz="1700" b="1">
                <a:solidFill>
                  <a:srgbClr val="191919"/>
                </a:solidFill>
                <a:highlight>
                  <a:srgbClr val="FFFFFF"/>
                </a:highlight>
              </a:rPr>
              <a:t>　インセンティブの5つの指標が、各支部の保険料率（＝県の医療費）を決定しているか、都道府県別のデータを比較分析。</a:t>
            </a:r>
          </a:p>
          <a:p>
            <a:pPr>
              <a:spcBef>
                <a:spcPts val="1100"/>
              </a:spcBef>
            </a:pPr>
            <a:r>
              <a:rPr lang="ja" sz="1700" b="1">
                <a:solidFill>
                  <a:srgbClr val="191919"/>
                </a:solidFill>
                <a:highlight>
                  <a:srgbClr val="FFFFFF"/>
                </a:highlight>
              </a:rPr>
              <a:t>「長崎の伸び代」の可視化： 全国平均と長崎の乖離を項目ごとに抽出し、「どの指標を何％改善すれば、料率が全国トップレベルに近づくか」というシミュレーション。</a:t>
            </a:r>
          </a:p>
          <a:p>
            <a:pPr>
              <a:spcBef>
                <a:spcPts val="1100"/>
              </a:spcBef>
            </a:pPr>
            <a:r>
              <a:rPr lang="ja" altLang="en-US" sz="1700" b="1">
                <a:solidFill>
                  <a:srgbClr val="191919"/>
                </a:solidFill>
                <a:highlight>
                  <a:srgbClr val="FFFFFF"/>
                </a:highlight>
              </a:rPr>
              <a:t>（要検討）</a:t>
            </a:r>
            <a:r>
              <a:rPr lang="ja" sz="1700" b="1">
                <a:solidFill>
                  <a:srgbClr val="191919"/>
                </a:solidFill>
                <a:highlight>
                  <a:srgbClr val="FFFFFF"/>
                </a:highlight>
              </a:rPr>
              <a:t>「長崎県が全国平均（または1位）の指標レベルになったと仮定した場合、県全体で約〇〇億円の医療費抑制効果があり、それが保険料率の〇〇％低下（＝年間〇〇万円の事業所負担減）に直結する」</a:t>
            </a:r>
            <a:endParaRPr lang="ja"/>
          </a:p>
          <a:p>
            <a:pPr>
              <a:spcBef>
                <a:spcPts val="1100"/>
              </a:spcBef>
            </a:pPr>
            <a:r>
              <a:rPr lang="ja" altLang="en-US" sz="1700" b="1">
                <a:solidFill>
                  <a:srgbClr val="191919"/>
                </a:solidFill>
                <a:highlight>
                  <a:srgbClr val="FFFFFF"/>
                </a:highlight>
              </a:rPr>
              <a:t>　長崎県民の健康に影響のあるデータは。。。。</a:t>
            </a:r>
          </a:p>
          <a:p>
            <a:pPr>
              <a:spcBef>
                <a:spcPts val="1100"/>
              </a:spcBef>
            </a:pPr>
            <a:r>
              <a:rPr lang="ja" altLang="en-US" sz="1700" b="1">
                <a:solidFill>
                  <a:srgbClr val="191919"/>
                </a:solidFill>
                <a:highlight>
                  <a:srgbClr val="FFFFFF"/>
                </a:highlight>
              </a:rPr>
              <a:t>　従業員が入院した場合の企業損失は。。。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D0165D-6857-5D2D-2319-B3052FA42018}"/>
              </a:ext>
            </a:extLst>
          </p:cNvPr>
          <p:cNvSpPr txBox="1"/>
          <p:nvPr/>
        </p:nvSpPr>
        <p:spPr>
          <a:xfrm>
            <a:off x="932019" y="1445539"/>
            <a:ext cx="7520435" cy="3166824"/>
          </a:xfrm>
          <a:prstGeom prst="roundRect">
            <a:avLst/>
          </a:prstGeom>
          <a:solidFill>
            <a:srgbClr val="FFFF00"/>
          </a:solidFill>
          <a:ln>
            <a:solidFill>
              <a:schemeClr val="bg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ja-JP" altLang="en-US" sz="1800" b="1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pPr algn="l"/>
            <a:r>
              <a:rPr lang="ja-JP" altLang="en-US" sz="1800" b="1">
                <a:solidFill>
                  <a:schemeClr val="tx2">
                    <a:lumMod val="10000"/>
                  </a:schemeClr>
                </a:solidFill>
                <a:ea typeface="ＭＳ Ｐゴシック"/>
                <a:cs typeface="Arial"/>
              </a:rPr>
              <a:t>このスライドの時に、</a:t>
            </a:r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r>
              <a:rPr lang="ja-JP" altLang="en-US" sz="1800" b="1">
                <a:solidFill>
                  <a:schemeClr val="tx2">
                    <a:lumMod val="10000"/>
                  </a:schemeClr>
                </a:solidFill>
                <a:ea typeface="ＭＳ Ｐゴシック"/>
                <a:cs typeface="Arial"/>
              </a:rPr>
              <a:t>・こういったデータを使ってこんな分析をして結果こうでしたと説明。</a:t>
            </a:r>
          </a:p>
          <a:p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r>
              <a:rPr lang="ja-JP" altLang="en-US" sz="1800" b="1">
                <a:solidFill>
                  <a:schemeClr val="tx2">
                    <a:lumMod val="10000"/>
                  </a:schemeClr>
                </a:solidFill>
                <a:ea typeface="ＭＳ Ｐゴシック"/>
                <a:cs typeface="Arial"/>
              </a:rPr>
              <a:t>・プレゼン時に見せるデータの選定が必要</a:t>
            </a:r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r>
              <a:rPr lang="ja-JP" altLang="en-US" sz="1800" b="1">
                <a:solidFill>
                  <a:schemeClr val="tx2">
                    <a:lumMod val="10000"/>
                  </a:schemeClr>
                </a:solidFill>
                <a:ea typeface="ＭＳ Ｐゴシック"/>
                <a:cs typeface="Arial"/>
              </a:rPr>
              <a:t>・データを見せながら説明する。</a:t>
            </a:r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5882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4E1E6361-8CFC-5C2D-0FCA-00E66ED01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6325A1F1-DDE7-6CA0-1847-7AB1475B063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24825" y="408100"/>
            <a:ext cx="8308082" cy="6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algn="l"/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5. 「</a:t>
            </a:r>
            <a:r>
              <a:rPr lang="en-US" altLang="ja" sz="2250" b="1" err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健康の収支バランス」改善アプローチ（ライフステージ</a:t>
            </a:r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）</a:t>
            </a:r>
            <a:endParaRPr lang="en-US" altLang="ja" sz="2250" b="1">
              <a:solidFill>
                <a:srgbClr val="191919"/>
              </a:solidFill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149" name="Google Shape;149;p16">
            <a:extLst>
              <a:ext uri="{FF2B5EF4-FFF2-40B4-BE49-F238E27FC236}">
                <a16:creationId xmlns:a16="http://schemas.microsoft.com/office/drawing/2014/main" id="{4FAC63AB-C371-A5BD-CEC6-C65C0FCA3688}"/>
              </a:ext>
            </a:extLst>
          </p:cNvPr>
          <p:cNvSpPr txBox="1"/>
          <p:nvPr/>
        </p:nvSpPr>
        <p:spPr>
          <a:xfrm>
            <a:off x="546858" y="1054837"/>
            <a:ext cx="8284530" cy="3279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1100"/>
              </a:spcBef>
            </a:pPr>
            <a:r>
              <a:rPr lang="ja" altLang="en-US" b="1">
                <a:solidFill>
                  <a:srgbClr val="191919"/>
                </a:solidFill>
                <a:highlight>
                  <a:srgbClr val="FFFFFF"/>
                </a:highlight>
              </a:rPr>
              <a:t>若年層（20代〜30代）： 「健康への貯金」期間。定期的な特定健診を通じ、生活習慣の基礎データを確認することで、将来の重症化リスクを未然に防ぎ、保険料率の安定に寄与する。</a:t>
            </a:r>
          </a:p>
          <a:p>
            <a:pPr>
              <a:spcBef>
                <a:spcPts val="1100"/>
              </a:spcBef>
            </a:pPr>
            <a:r>
              <a:rPr lang="ja" b="1">
                <a:solidFill>
                  <a:srgbClr val="191919"/>
                </a:solidFill>
                <a:highlight>
                  <a:srgbClr val="FFFFFF"/>
                </a:highlight>
              </a:rPr>
              <a:t>中高年層（40代〜60代）： 「健康のメンテナンス」期間。特定保健指導の積極的な活用とジェネリック医薬品の利用により、今現在の医療費を抑え、生涯を通じた「自己負担額」と「保険料負担額」の双方を最適化する。</a:t>
            </a:r>
          </a:p>
          <a:p>
            <a:pPr>
              <a:spcBef>
                <a:spcPts val="1100"/>
              </a:spcBef>
            </a:pPr>
            <a:r>
              <a:rPr lang="ja" b="1">
                <a:solidFill>
                  <a:srgbClr val="191919"/>
                </a:solidFill>
                <a:highlight>
                  <a:srgbClr val="FFFFFF"/>
                </a:highlight>
              </a:rPr>
              <a:t>特定健診・受診勧奨： 重症化を未然に防ぐ「最大の固定費削減策」。</a:t>
            </a:r>
          </a:p>
          <a:p>
            <a:pPr>
              <a:spcBef>
                <a:spcPts val="1100"/>
              </a:spcBef>
            </a:pPr>
            <a:r>
              <a:rPr lang="ja" b="1">
                <a:solidFill>
                  <a:srgbClr val="191919"/>
                </a:solidFill>
                <a:highlight>
                  <a:srgbClr val="FFFFFF"/>
                </a:highlight>
              </a:rPr>
              <a:t>特定保健指導・ジェネリック利用： 毎月の医療コストを最適化する「生活費の合理化策」。</a:t>
            </a:r>
          </a:p>
          <a:p>
            <a:pPr>
              <a:spcBef>
                <a:spcPts val="1100"/>
              </a:spcBef>
            </a:pPr>
            <a:r>
              <a:rPr lang="ja" b="1">
                <a:solidFill>
                  <a:srgbClr val="191919"/>
                </a:solidFill>
                <a:highlight>
                  <a:srgbClr val="FFFFFF"/>
                </a:highlight>
              </a:rPr>
              <a:t>結論： ライフステージごとに「今、取り組むべき優先項目」を明確化し、無駄な医療費を使わないことは『低コストな先回り投資』です。</a:t>
            </a:r>
          </a:p>
          <a:p>
            <a:pPr>
              <a:spcBef>
                <a:spcPts val="1100"/>
              </a:spcBef>
            </a:pPr>
            <a:r>
              <a:rPr lang="ja" b="1">
                <a:solidFill>
                  <a:srgbClr val="191919"/>
                </a:solidFill>
                <a:highlight>
                  <a:srgbClr val="FFFFFF"/>
                </a:highlight>
              </a:rPr>
              <a:t>賢く保険制度を活用することは、県全体の医療費を下げ、結果として「みんなの保険料」を下げる、最も再現性の高い経済合理的な行動である。</a:t>
            </a:r>
          </a:p>
        </p:txBody>
      </p:sp>
    </p:spTree>
    <p:extLst>
      <p:ext uri="{BB962C8B-B14F-4D97-AF65-F5344CB8AC3E}">
        <p14:creationId xmlns:p14="http://schemas.microsoft.com/office/powerpoint/2010/main" val="4140856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EA84CB8D-E39F-8425-C99D-AC0DCF48A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9AE9780F-F5D2-06E0-A324-27F5295781A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24825" y="408100"/>
            <a:ext cx="8308082" cy="6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algn="l"/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cs typeface="Arial"/>
              </a:rPr>
              <a:t>７.シミュレーション・ダッシュボード（WEBで見える化）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F8D711-A87C-08E0-5182-FA48AF071734}"/>
              </a:ext>
            </a:extLst>
          </p:cNvPr>
          <p:cNvSpPr txBox="1"/>
          <p:nvPr/>
        </p:nvSpPr>
        <p:spPr>
          <a:xfrm>
            <a:off x="671660" y="1475883"/>
            <a:ext cx="716437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800" b="1"/>
              <a:t>事業主へのツール実演： 「今の支払い額」を入力し、「全国1位の指標を達成した場合の会社・従業員それぞれの削減額」を表示。</a:t>
            </a:r>
          </a:p>
          <a:p>
            <a:r>
              <a:rPr lang="ja-JP" sz="1800" b="1"/>
              <a:t>事業主には「会社負担分の削減額」を、従業員には「毎月の手取り増加分」を明示し、「健康指標の改善が、来月の給与明細にどう響くか」を見える化。</a:t>
            </a:r>
          </a:p>
          <a:p>
            <a:pPr algn="ctr"/>
            <a:endParaRPr lang="en-US" sz="18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A55118-5055-9FE9-5CF7-98D7246ADE3D}"/>
              </a:ext>
            </a:extLst>
          </p:cNvPr>
          <p:cNvSpPr txBox="1"/>
          <p:nvPr/>
        </p:nvSpPr>
        <p:spPr>
          <a:xfrm>
            <a:off x="876936" y="2354430"/>
            <a:ext cx="7961109" cy="34732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ja-JP" altLang="en-US" sz="1800" b="1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pPr algn="l"/>
            <a:r>
              <a:rPr lang="ja-JP" altLang="en-US" sz="1800" b="1">
                <a:solidFill>
                  <a:schemeClr val="tx2">
                    <a:lumMod val="10000"/>
                  </a:schemeClr>
                </a:solidFill>
                <a:ea typeface="ＭＳ Ｐゴシック"/>
                <a:cs typeface="Arial"/>
              </a:rPr>
              <a:t>このスライドの時に、事業主へシミュレーターを使ってのフロー説明</a:t>
            </a:r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r>
              <a:rPr lang="ja-JP" altLang="en-US" sz="1800" b="1">
                <a:solidFill>
                  <a:schemeClr val="tx2">
                    <a:lumMod val="10000"/>
                  </a:schemeClr>
                </a:solidFill>
                <a:ea typeface="ＭＳ Ｐゴシック"/>
                <a:cs typeface="Arial"/>
              </a:rPr>
              <a:t>・シミュ―レーターのフローの検討</a:t>
            </a:r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r>
              <a:rPr lang="ja-JP" altLang="en-US" sz="1800" b="1">
                <a:solidFill>
                  <a:schemeClr val="tx2">
                    <a:lumMod val="10000"/>
                  </a:schemeClr>
                </a:solidFill>
                <a:ea typeface="ＭＳ Ｐゴシック"/>
                <a:cs typeface="Arial"/>
              </a:rPr>
              <a:t>・インセンティブについて説明</a:t>
            </a:r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r>
              <a:rPr lang="ja-JP" altLang="en-US" sz="1800" b="1">
                <a:solidFill>
                  <a:schemeClr val="tx2">
                    <a:lumMod val="10000"/>
                  </a:schemeClr>
                </a:solidFill>
                <a:ea typeface="ＭＳ Ｐゴシック"/>
                <a:cs typeface="Arial"/>
              </a:rPr>
              <a:t>・健康に関すること</a:t>
            </a:r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r>
              <a:rPr lang="ja-JP" altLang="en-US" sz="1800" b="1">
                <a:solidFill>
                  <a:schemeClr val="tx2">
                    <a:lumMod val="10000"/>
                  </a:schemeClr>
                </a:solidFill>
                <a:ea typeface="ＭＳ Ｐゴシック"/>
                <a:cs typeface="Arial"/>
              </a:rPr>
              <a:t>・従業員が休んだ際の企業損失について</a:t>
            </a:r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0753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543DD0D7-8E9A-4269-735A-C8813F516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97CE1097-1976-BA73-4350-48B5FA6BF88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24825" y="408100"/>
            <a:ext cx="8308082" cy="6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algn="l"/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cs typeface="Arial"/>
              </a:rPr>
              <a:t>８. </a:t>
            </a:r>
            <a:r>
              <a:rPr lang="en-US" altLang="ja" sz="2250" b="1" err="1">
                <a:solidFill>
                  <a:srgbClr val="191919"/>
                </a:solidFill>
                <a:highlight>
                  <a:srgbClr val="FFFFFF"/>
                </a:highlight>
                <a:latin typeface="Arial"/>
                <a:cs typeface="Arial"/>
              </a:rPr>
              <a:t>まとめ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079710-54A9-71BA-168A-5FB829ECBEDF}"/>
              </a:ext>
            </a:extLst>
          </p:cNvPr>
          <p:cNvSpPr txBox="1"/>
          <p:nvPr/>
        </p:nvSpPr>
        <p:spPr>
          <a:xfrm>
            <a:off x="1035976" y="1169514"/>
            <a:ext cx="7591153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/>
            <a:r>
              <a:rPr lang="ja-JP" sz="1600" b="1"/>
              <a:t>企業と従業員のための「健康経営」</a:t>
            </a:r>
            <a:endParaRPr lang="en-US"/>
          </a:p>
          <a:p>
            <a:pPr lvl="1"/>
            <a:endParaRPr lang="ja-JP" altLang="en-US" sz="1600" b="1"/>
          </a:p>
          <a:p>
            <a:pPr lvl="1"/>
            <a:r>
              <a:rPr lang="ja-JP" altLang="en-US" sz="1600" b="1"/>
              <a:t>　</a:t>
            </a:r>
            <a:r>
              <a:rPr lang="ja-JP" sz="1600" b="1"/>
              <a:t>社員の健康づくりは、単に病気をさせない</a:t>
            </a:r>
            <a:r>
              <a:rPr lang="en-US" altLang="ja-JP" sz="1600" b="1"/>
              <a:t>·</a:t>
            </a:r>
            <a:r>
              <a:rPr lang="ja-JP" sz="1600" b="1"/>
              <a:t>欠勤させないための「コスト」ではなく、仕事への意欲向上や職場での絆を強めるなど、一緒に成長することを促すための「投資」。</a:t>
            </a:r>
            <a:endParaRPr lang="en-US" altLang="ja-JP"/>
          </a:p>
          <a:p>
            <a:pPr lvl="1"/>
            <a:r>
              <a:rPr lang="ja-JP" altLang="en-US" sz="1600" b="1"/>
              <a:t>　</a:t>
            </a:r>
            <a:r>
              <a:rPr lang="ja-JP" sz="1600" b="1"/>
              <a:t>従業員が健康で長く働ける環境を整えることで、労働力の不足を防ぐことにもつながります。</a:t>
            </a:r>
            <a:endParaRPr lang="en-US"/>
          </a:p>
          <a:p>
            <a:pPr lvl="1"/>
            <a:endParaRPr lang="ja-JP" altLang="en-US" sz="1600" b="1"/>
          </a:p>
          <a:p>
            <a:pPr algn="ctr"/>
            <a:endParaRPr lang="en-US" sz="1600" b="1"/>
          </a:p>
        </p:txBody>
      </p:sp>
    </p:spTree>
    <p:extLst>
      <p:ext uri="{BB962C8B-B14F-4D97-AF65-F5344CB8AC3E}">
        <p14:creationId xmlns:p14="http://schemas.microsoft.com/office/powerpoint/2010/main" val="1826684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FFABE2-32DE-CBBA-5963-EB7110226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D19D6B0-2861-DD6B-0CC2-9C1C3E9E8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9" y="0"/>
            <a:ext cx="883446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435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92DB23-91C0-9019-4163-39173DD17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ED6A3B0-033B-FE36-DE28-7FB4DA977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700"/>
            <a:ext cx="599250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858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DA41F2-35F2-D604-46F7-9B573996B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80094DC-F9A8-7978-71FB-2A450D906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85" y="915670"/>
            <a:ext cx="9150170" cy="416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85884"/>
      </p:ext>
    </p:extLst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f6b417a-a01e-4c9e-86f7-df4e372b5e16" xsi:nil="true"/>
    <lcf76f155ced4ddcb4097134ff3c332f xmlns="09145a60-8193-4ef9-9bfb-5be5473dd1f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791FBE46F30B9645A363559095358883" ma:contentTypeVersion="11" ma:contentTypeDescription="新しいドキュメントを作成します。" ma:contentTypeScope="" ma:versionID="63749f3fb80612aed3e029516aacef76">
  <xsd:schema xmlns:xsd="http://www.w3.org/2001/XMLSchema" xmlns:xs="http://www.w3.org/2001/XMLSchema" xmlns:p="http://schemas.microsoft.com/office/2006/metadata/properties" xmlns:ns2="09145a60-8193-4ef9-9bfb-5be5473dd1fb" xmlns:ns3="cf6b417a-a01e-4c9e-86f7-df4e372b5e16" targetNamespace="http://schemas.microsoft.com/office/2006/metadata/properties" ma:root="true" ma:fieldsID="8a2785a53d636fbd340ca71639342d5d" ns2:_="" ns3:_="">
    <xsd:import namespace="09145a60-8193-4ef9-9bfb-5be5473dd1fb"/>
    <xsd:import namespace="cf6b417a-a01e-4c9e-86f7-df4e372b5e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145a60-8193-4ef9-9bfb-5be5473dd1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b5dbca49-9807-4b4a-a9f6-911112dc69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6b417a-a01e-4c9e-86f7-df4e372b5e1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51dec24-8445-4afc-ac2b-de950df422a4}" ma:internalName="TaxCatchAll" ma:showField="CatchAllData" ma:web="cf6b417a-a01e-4c9e-86f7-df4e372b5e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9935552-2CDD-4A13-A782-615F1C79C33A}">
  <ds:schemaRefs>
    <ds:schemaRef ds:uri="09145a60-8193-4ef9-9bfb-5be5473dd1fb"/>
    <ds:schemaRef ds:uri="http://www.w3.org/XML/1998/namespace"/>
    <ds:schemaRef ds:uri="http://schemas.microsoft.com/office/2006/documentManagement/types"/>
    <ds:schemaRef ds:uri="cf6b417a-a01e-4c9e-86f7-df4e372b5e16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1C0CA508-3F56-4803-8CB9-73E41C67E0FF}">
  <ds:schemaRefs>
    <ds:schemaRef ds:uri="09145a60-8193-4ef9-9bfb-5be5473dd1fb"/>
    <ds:schemaRef ds:uri="cf6b417a-a01e-4c9e-86f7-df4e372b5e1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30EBE91-0E0C-422B-A090-BCB667E0114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908</Words>
  <Application>Microsoft Office PowerPoint</Application>
  <PresentationFormat>On-screen Show (16:9)</PresentationFormat>
  <Paragraphs>54</Paragraphs>
  <Slides>13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Shift</vt:lpstr>
      <vt:lpstr>データ分析で挑戦！「長崎県民の手取りを増やす」健康プロジェクト</vt:lpstr>
      <vt:lpstr>PowerPoint Presentation</vt:lpstr>
      <vt:lpstr>PowerPoint Presentation</vt:lpstr>
      <vt:lpstr>1. シミュレーションの目的は何か？  </vt:lpstr>
      <vt:lpstr>2. 誰が得をするのか？</vt:lpstr>
      <vt:lpstr>3. 「健康経営」は明日からの経営を変える</vt:lpstr>
      <vt:lpstr>4.データ分析</vt:lpstr>
      <vt:lpstr>5. 「健康の収支バランス」改善アプローチ（ライフステージ）</vt:lpstr>
      <vt:lpstr>７.シミュレーション・ダッシュボード（WEBで見える化）</vt:lpstr>
      <vt:lpstr>８. まとめ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林田 慎一</cp:lastModifiedBy>
  <cp:revision>100</cp:revision>
  <dcterms:modified xsi:type="dcterms:W3CDTF">2026-06-28T09:16:42Z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0x010100791FBE46F30B9645A363559095358883</vt:lpwstr>
  </property>
  <property fmtid="{D5CDD505-2E9C-101B-9397-08002B2CF9AE}" pid="3" name="MediaServiceImageTags">
    <vt:lpwstr/>
  </property>
</Properties>
</file>