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customXml" Target="../customXml/item2.xml"/><Relationship Id="rId2" Type="http://schemas.openxmlformats.org/officeDocument/2006/relationships/printerSettings" Target="printerSettings/printerSettings1.bin"/><Relationship Id="rId1" Type="http://schemas.openxmlformats.org/officeDocument/2006/relationships/slideMaster" Target="slideMasters/slideMaster1.xml"/><Relationship Id="rId6" Type="http://schemas.openxmlformats.org/officeDocument/2006/relationships/tableStyles" Target="tableStyles.xml"/><Relationship Id="rId11" Type="http://schemas.openxmlformats.org/officeDocument/2006/relationships/customXml" Target="../customXml/item1.xml"/><Relationship Id="rId5" Type="http://schemas.openxmlformats.org/officeDocument/2006/relationships/theme" Target="theme/theme1.xml"/><Relationship Id="rId10" Type="http://schemas.openxmlformats.org/officeDocument/2006/relationships/slide" Target="slides/slide4.xml"/><Relationship Id="rId4" Type="http://schemas.openxmlformats.org/officeDocument/2006/relationships/viewProps" Target="viewProps.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233267" y="1967954"/>
            <a:ext cx="3725465" cy="428625"/>
          </a:xfrm>
          <a:prstGeom prst="rect">
            <a:avLst/>
          </a:prstGeom>
        </p:spPr>
      </p:pic>
      <p:sp>
        <p:nvSpPr>
          <p:cNvPr id="4" name="TextBox 3"/>
          <p:cNvSpPr txBox="1"/>
          <p:nvPr/>
        </p:nvSpPr>
        <p:spPr>
          <a:xfrm>
            <a:off x="5381327" y="1586954"/>
            <a:ext cx="1429345" cy="228600"/>
          </a:xfrm>
          <a:prstGeom prst="rect">
            <a:avLst/>
          </a:prstGeom>
          <a:noFill/>
        </p:spPr>
        <p:txBody>
          <a:bodyPr wrap="square" lIns="190648" rIns="0" tIns="0" bIns="0" anchor="t">
            <a:spAutoFit/>
          </a:bodyPr>
          <a:lstStyle/>
          <a:p>
            <a:pPr algn="ctr"/>
            <a:r>
              <a:rPr b="0" sz="1350" i="0" u="none">
                <a:solidFill>
                  <a:srgbClr val="64748B"/>
                </a:solidFill>
                <a:latin typeface="Noto Sans JP Medium"/>
              </a:rPr>
              <a:t>令和8年8月24日</a:t>
            </a:r>
          </a:p>
        </p:txBody>
      </p:sp>
      <p:sp>
        <p:nvSpPr>
          <p:cNvPr id="5" name="TextBox 4"/>
          <p:cNvSpPr txBox="1"/>
          <p:nvPr/>
        </p:nvSpPr>
        <p:spPr>
          <a:xfrm>
            <a:off x="1288367" y="2663279"/>
            <a:ext cx="9615264" cy="1234380"/>
          </a:xfrm>
          <a:prstGeom prst="rect">
            <a:avLst/>
          </a:prstGeom>
          <a:noFill/>
        </p:spPr>
        <p:txBody>
          <a:bodyPr wrap="square" lIns="0" rIns="0" tIns="0" bIns="0" anchor="t">
            <a:spAutoFit/>
          </a:bodyPr>
          <a:lstStyle/>
          <a:p>
            <a:pPr algn="ctr">
              <a:lnSpc>
                <a:spcPts val="4859"/>
              </a:lnSpc>
            </a:pPr>
            <a:r>
              <a:rPr b="1" sz="3600" i="0" u="none">
                <a:solidFill>
                  <a:srgbClr val="0F172A"/>
                </a:solidFill>
                <a:latin typeface="Noto Sans JP"/>
              </a:rPr>
              <a:t>データ分析で挑戦！</a:t>
            </a:r>
            <a:r>
              <a:t>
</a:t>
            </a:r>
            <a:r>
              <a:rPr b="1" sz="3600" i="0" u="none">
                <a:solidFill>
                  <a:srgbClr val="2563EB"/>
                </a:solidFill>
                <a:latin typeface="Noto Sans JP"/>
              </a:rPr>
              <a:t>「長崎県民の手取りを増やす」</a:t>
            </a:r>
            <a:r>
              <a:rPr b="1" sz="3600" i="0" u="none">
                <a:solidFill>
                  <a:srgbClr val="0F172A"/>
                </a:solidFill>
                <a:latin typeface="Noto Sans JP"/>
              </a:rPr>
              <a:t>プロジェクト</a:t>
            </a:r>
          </a:p>
        </p:txBody>
      </p:sp>
      <p:sp>
        <p:nvSpPr>
          <p:cNvPr id="6" name="TextBox 5"/>
          <p:cNvSpPr txBox="1"/>
          <p:nvPr/>
        </p:nvSpPr>
        <p:spPr>
          <a:xfrm>
            <a:off x="1809750" y="4202459"/>
            <a:ext cx="8572500" cy="1068437"/>
          </a:xfrm>
          <a:prstGeom prst="rect">
            <a:avLst/>
          </a:prstGeom>
          <a:noFill/>
        </p:spPr>
        <p:txBody>
          <a:bodyPr wrap="square" lIns="0" rIns="0" tIns="0" bIns="0" anchor="t">
            <a:spAutoFit/>
          </a:bodyPr>
          <a:lstStyle/>
          <a:p>
            <a:pPr algn="ctr">
              <a:lnSpc>
                <a:spcPts val="2804"/>
              </a:lnSpc>
            </a:pPr>
            <a:r>
              <a:rPr b="0" sz="1650" i="0" u="none">
                <a:solidFill>
                  <a:srgbClr val="475569"/>
                </a:solidFill>
                <a:latin typeface="Noto Sans JP"/>
              </a:rPr>
              <a:t>データ分析の力を活用し、長崎県の「協会けんぽ保険料率」の仕組みを解明。</a:t>
            </a:r>
            <a:r>
              <a:t>
</a:t>
            </a:r>
            <a:r>
              <a:rPr b="0" sz="1650" i="0" u="none">
                <a:solidFill>
                  <a:srgbClr val="475569"/>
                </a:solidFill>
                <a:latin typeface="Noto Sans JP"/>
              </a:rPr>
              <a:t> 健康指標の改善による保険料率抑制の可能性を探り、将来的な県民の手取り額向上に寄与する道筋を提示します。</a:t>
            </a:r>
          </a:p>
        </p:txBody>
      </p:sp>
      <p:pic>
        <p:nvPicPr>
          <p:cNvPr id="7" name="Picture 6" descr="image.png"/>
          <p:cNvPicPr>
            <a:picLocks noChangeAspect="1"/>
          </p:cNvPicPr>
          <p:nvPr/>
        </p:nvPicPr>
        <p:blipFill>
          <a:blip r:embed="rId4"/>
          <a:stretch>
            <a:fillRect/>
          </a:stretch>
        </p:blipFill>
        <p:spPr>
          <a:xfrm>
            <a:off x="5381327" y="1615529"/>
            <a:ext cx="133498" cy="171450"/>
          </a:xfrm>
          <a:prstGeom prst="rect">
            <a:avLst/>
          </a:prstGeom>
        </p:spPr>
      </p:pic>
      <p:pic>
        <p:nvPicPr>
          <p:cNvPr id="8" name="Picture 7" descr="image.png"/>
          <p:cNvPicPr>
            <a:picLocks noChangeAspect="1"/>
          </p:cNvPicPr>
          <p:nvPr/>
        </p:nvPicPr>
        <p:blipFill>
          <a:blip r:embed="rId5"/>
          <a:stretch>
            <a:fillRect/>
          </a:stretch>
        </p:blipFill>
        <p:spPr>
          <a:xfrm>
            <a:off x="4433292" y="2087016"/>
            <a:ext cx="148232" cy="190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169021"/>
            <a:ext cx="3530649" cy="2986682"/>
          </a:xfrm>
          <a:prstGeom prst="rect">
            <a:avLst/>
          </a:prstGeom>
        </p:spPr>
      </p:pic>
      <p:pic>
        <p:nvPicPr>
          <p:cNvPr id="4" name="Picture 3" descr="image.png"/>
          <p:cNvPicPr>
            <a:picLocks noChangeAspect="1"/>
          </p:cNvPicPr>
          <p:nvPr/>
        </p:nvPicPr>
        <p:blipFill>
          <a:blip r:embed="rId4"/>
          <a:stretch>
            <a:fillRect/>
          </a:stretch>
        </p:blipFill>
        <p:spPr>
          <a:xfrm>
            <a:off x="4330749" y="2169021"/>
            <a:ext cx="3530649" cy="2986682"/>
          </a:xfrm>
          <a:prstGeom prst="rect">
            <a:avLst/>
          </a:prstGeom>
        </p:spPr>
      </p:pic>
      <p:pic>
        <p:nvPicPr>
          <p:cNvPr id="5" name="Picture 4" descr="image.png"/>
          <p:cNvPicPr>
            <a:picLocks noChangeAspect="1"/>
          </p:cNvPicPr>
          <p:nvPr/>
        </p:nvPicPr>
        <p:blipFill>
          <a:blip r:embed="rId5"/>
          <a:stretch>
            <a:fillRect/>
          </a:stretch>
        </p:blipFill>
        <p:spPr>
          <a:xfrm>
            <a:off x="8089999" y="2169021"/>
            <a:ext cx="3530649" cy="2986682"/>
          </a:xfrm>
          <a:prstGeom prst="rect">
            <a:avLst/>
          </a:prstGeom>
        </p:spPr>
      </p:pic>
      <p:pic>
        <p:nvPicPr>
          <p:cNvPr id="6" name="Picture 5" descr="image.png"/>
          <p:cNvPicPr>
            <a:picLocks noChangeAspect="1"/>
          </p:cNvPicPr>
          <p:nvPr/>
        </p:nvPicPr>
        <p:blipFill>
          <a:blip r:embed="rId6"/>
          <a:stretch>
            <a:fillRect/>
          </a:stretch>
        </p:blipFill>
        <p:spPr>
          <a:xfrm>
            <a:off x="847725" y="2483346"/>
            <a:ext cx="571500" cy="571500"/>
          </a:xfrm>
          <a:prstGeom prst="rect">
            <a:avLst/>
          </a:prstGeom>
        </p:spPr>
      </p:pic>
      <p:sp>
        <p:nvSpPr>
          <p:cNvPr id="7" name="TextBox 6"/>
          <p:cNvSpPr txBox="1"/>
          <p:nvPr/>
        </p:nvSpPr>
        <p:spPr>
          <a:xfrm>
            <a:off x="847725" y="3245346"/>
            <a:ext cx="3127109" cy="304800"/>
          </a:xfrm>
          <a:prstGeom prst="rect">
            <a:avLst/>
          </a:prstGeom>
          <a:noFill/>
        </p:spPr>
        <p:txBody>
          <a:bodyPr wrap="square" lIns="0" rIns="0" tIns="0" bIns="0" anchor="t">
            <a:spAutoFit/>
          </a:bodyPr>
          <a:lstStyle/>
          <a:p>
            <a:pPr algn="l"/>
            <a:r>
              <a:rPr b="1" sz="1800" i="0" u="none">
                <a:solidFill>
                  <a:srgbClr val="0F172A"/>
                </a:solidFill>
                <a:latin typeface="Noto Sans JP"/>
              </a:rPr>
              <a:t>1. 役割分担と因子探索</a:t>
            </a:r>
          </a:p>
        </p:txBody>
      </p:sp>
      <p:sp>
        <p:nvSpPr>
          <p:cNvPr id="8" name="TextBox 7"/>
          <p:cNvSpPr txBox="1"/>
          <p:nvPr/>
        </p:nvSpPr>
        <p:spPr>
          <a:xfrm>
            <a:off x="847725" y="3683496"/>
            <a:ext cx="2978199" cy="1157882"/>
          </a:xfrm>
          <a:prstGeom prst="rect">
            <a:avLst/>
          </a:prstGeom>
          <a:noFill/>
        </p:spPr>
        <p:txBody>
          <a:bodyPr wrap="square" lIns="0" rIns="0" tIns="0" bIns="0" anchor="t">
            <a:spAutoFit/>
          </a:bodyPr>
          <a:lstStyle/>
          <a:p>
            <a:pPr algn="l">
              <a:lnSpc>
                <a:spcPts val="2279"/>
              </a:lnSpc>
            </a:pPr>
            <a:r>
              <a:rPr b="0" sz="1425" i="0" u="none">
                <a:solidFill>
                  <a:srgbClr val="475569"/>
                </a:solidFill>
                <a:latin typeface="Noto Sans JP"/>
              </a:rPr>
              <a:t>分析・制作・進捗管理に分担して試行を開始。インセンティブ5指標以外の「隠れた影響因子」を探る検証に着手。</a:t>
            </a:r>
          </a:p>
        </p:txBody>
      </p:sp>
      <p:pic>
        <p:nvPicPr>
          <p:cNvPr id="9" name="Picture 8" descr="image.png"/>
          <p:cNvPicPr>
            <a:picLocks noChangeAspect="1"/>
          </p:cNvPicPr>
          <p:nvPr/>
        </p:nvPicPr>
        <p:blipFill>
          <a:blip r:embed="rId7"/>
          <a:stretch>
            <a:fillRect/>
          </a:stretch>
        </p:blipFill>
        <p:spPr>
          <a:xfrm>
            <a:off x="4606974" y="2483346"/>
            <a:ext cx="571500" cy="571500"/>
          </a:xfrm>
          <a:prstGeom prst="rect">
            <a:avLst/>
          </a:prstGeom>
        </p:spPr>
      </p:pic>
      <p:sp>
        <p:nvSpPr>
          <p:cNvPr id="10" name="TextBox 9"/>
          <p:cNvSpPr txBox="1"/>
          <p:nvPr/>
        </p:nvSpPr>
        <p:spPr>
          <a:xfrm>
            <a:off x="4606974" y="3245346"/>
            <a:ext cx="3127109" cy="304800"/>
          </a:xfrm>
          <a:prstGeom prst="rect">
            <a:avLst/>
          </a:prstGeom>
          <a:noFill/>
        </p:spPr>
        <p:txBody>
          <a:bodyPr wrap="square" lIns="0" rIns="0" tIns="0" bIns="0" anchor="t">
            <a:spAutoFit/>
          </a:bodyPr>
          <a:lstStyle/>
          <a:p>
            <a:pPr algn="l"/>
            <a:r>
              <a:rPr b="1" sz="1800" i="0" u="none">
                <a:solidFill>
                  <a:srgbClr val="0F172A"/>
                </a:solidFill>
                <a:latin typeface="Noto Sans JP"/>
              </a:rPr>
              <a:t>2. 単回帰分析での検証</a:t>
            </a:r>
          </a:p>
        </p:txBody>
      </p:sp>
      <p:sp>
        <p:nvSpPr>
          <p:cNvPr id="11" name="TextBox 10"/>
          <p:cNvSpPr txBox="1"/>
          <p:nvPr/>
        </p:nvSpPr>
        <p:spPr>
          <a:xfrm>
            <a:off x="4606974" y="3683496"/>
            <a:ext cx="2978199" cy="1157882"/>
          </a:xfrm>
          <a:prstGeom prst="rect">
            <a:avLst/>
          </a:prstGeom>
          <a:noFill/>
        </p:spPr>
        <p:txBody>
          <a:bodyPr wrap="square" lIns="0" rIns="0" tIns="0" bIns="0" anchor="t">
            <a:spAutoFit/>
          </a:bodyPr>
          <a:lstStyle/>
          <a:p>
            <a:pPr algn="l">
              <a:lnSpc>
                <a:spcPts val="2279"/>
              </a:lnSpc>
            </a:pPr>
            <a:r>
              <a:rPr b="0" sz="1425" i="0" u="none">
                <a:solidFill>
                  <a:srgbClr val="475569"/>
                </a:solidFill>
                <a:latin typeface="Noto Sans JP"/>
              </a:rPr>
              <a:t>最適な手法を探るため、まずは5指標の各因子と各都道府県の保険料率との相関度を単回帰分析で個別に分析。</a:t>
            </a:r>
          </a:p>
        </p:txBody>
      </p:sp>
      <p:pic>
        <p:nvPicPr>
          <p:cNvPr id="12" name="Picture 11" descr="image.png"/>
          <p:cNvPicPr>
            <a:picLocks noChangeAspect="1"/>
          </p:cNvPicPr>
          <p:nvPr/>
        </p:nvPicPr>
        <p:blipFill>
          <a:blip r:embed="rId8"/>
          <a:stretch>
            <a:fillRect/>
          </a:stretch>
        </p:blipFill>
        <p:spPr>
          <a:xfrm>
            <a:off x="8366224" y="2483346"/>
            <a:ext cx="571500" cy="571500"/>
          </a:xfrm>
          <a:prstGeom prst="rect">
            <a:avLst/>
          </a:prstGeom>
        </p:spPr>
      </p:pic>
      <p:sp>
        <p:nvSpPr>
          <p:cNvPr id="13" name="TextBox 12"/>
          <p:cNvSpPr txBox="1"/>
          <p:nvPr/>
        </p:nvSpPr>
        <p:spPr>
          <a:xfrm>
            <a:off x="8366224" y="3245346"/>
            <a:ext cx="3127109" cy="304800"/>
          </a:xfrm>
          <a:prstGeom prst="rect">
            <a:avLst/>
          </a:prstGeom>
          <a:noFill/>
        </p:spPr>
        <p:txBody>
          <a:bodyPr wrap="square" lIns="0" rIns="0" tIns="0" bIns="0" anchor="t">
            <a:spAutoFit/>
          </a:bodyPr>
          <a:lstStyle/>
          <a:p>
            <a:pPr algn="l"/>
            <a:r>
              <a:rPr b="1" sz="1800" i="0" u="none">
                <a:solidFill>
                  <a:srgbClr val="0F172A"/>
                </a:solidFill>
                <a:latin typeface="Noto Sans JP"/>
              </a:rPr>
              <a:t>3. 専門家へのヒアリング</a:t>
            </a:r>
          </a:p>
        </p:txBody>
      </p:sp>
      <p:sp>
        <p:nvSpPr>
          <p:cNvPr id="14" name="TextBox 13"/>
          <p:cNvSpPr txBox="1"/>
          <p:nvPr/>
        </p:nvSpPr>
        <p:spPr>
          <a:xfrm>
            <a:off x="8366224" y="3683496"/>
            <a:ext cx="2978199" cy="1157882"/>
          </a:xfrm>
          <a:prstGeom prst="rect">
            <a:avLst/>
          </a:prstGeom>
          <a:noFill/>
        </p:spPr>
        <p:txBody>
          <a:bodyPr wrap="square" lIns="0" rIns="0" tIns="0" bIns="0" anchor="t">
            <a:spAutoFit/>
          </a:bodyPr>
          <a:lstStyle/>
          <a:p>
            <a:pPr algn="l">
              <a:lnSpc>
                <a:spcPts val="2279"/>
              </a:lnSpc>
            </a:pPr>
            <a:r>
              <a:rPr b="0" sz="1425" i="0" u="none">
                <a:solidFill>
                  <a:srgbClr val="475569"/>
                </a:solidFill>
                <a:latin typeface="Noto Sans JP"/>
              </a:rPr>
              <a:t>長崎大学の一藤先生にご相談。「一般化加法モデル（GAM）」や「XGBoost」など高度な分析手法のアドバイスを獲得。</a:t>
            </a:r>
          </a:p>
        </p:txBody>
      </p:sp>
      <p:pic>
        <p:nvPicPr>
          <p:cNvPr id="15" name="Picture 14" descr="image.png"/>
          <p:cNvPicPr>
            <a:picLocks noChangeAspect="1"/>
          </p:cNvPicPr>
          <p:nvPr/>
        </p:nvPicPr>
        <p:blipFill>
          <a:blip r:embed="rId9"/>
          <a:stretch>
            <a:fillRect/>
          </a:stretch>
        </p:blipFill>
        <p:spPr>
          <a:xfrm>
            <a:off x="1014858" y="2616696"/>
            <a:ext cx="237083" cy="304800"/>
          </a:xfrm>
          <a:prstGeom prst="rect">
            <a:avLst/>
          </a:prstGeom>
        </p:spPr>
      </p:pic>
      <p:pic>
        <p:nvPicPr>
          <p:cNvPr id="16" name="Picture 15" descr="image.png"/>
          <p:cNvPicPr>
            <a:picLocks noChangeAspect="1"/>
          </p:cNvPicPr>
          <p:nvPr/>
        </p:nvPicPr>
        <p:blipFill>
          <a:blip r:embed="rId10"/>
          <a:stretch>
            <a:fillRect/>
          </a:stretch>
        </p:blipFill>
        <p:spPr>
          <a:xfrm>
            <a:off x="4774108" y="2616696"/>
            <a:ext cx="237083" cy="304800"/>
          </a:xfrm>
          <a:prstGeom prst="rect">
            <a:avLst/>
          </a:prstGeom>
        </p:spPr>
      </p:pic>
      <p:pic>
        <p:nvPicPr>
          <p:cNvPr id="17" name="Picture 16" descr="image.png"/>
          <p:cNvPicPr>
            <a:picLocks noChangeAspect="1"/>
          </p:cNvPicPr>
          <p:nvPr/>
        </p:nvPicPr>
        <p:blipFill>
          <a:blip r:embed="rId11"/>
          <a:stretch>
            <a:fillRect/>
          </a:stretch>
        </p:blipFill>
        <p:spPr>
          <a:xfrm>
            <a:off x="8533358" y="2616696"/>
            <a:ext cx="237083" cy="304800"/>
          </a:xfrm>
          <a:prstGeom prst="rect">
            <a:avLst/>
          </a:prstGeom>
        </p:spPr>
      </p:pic>
      <p:sp>
        <p:nvSpPr>
          <p:cNvPr id="18" name="TextBox 17"/>
          <p:cNvSpPr txBox="1"/>
          <p:nvPr/>
        </p:nvSpPr>
        <p:spPr>
          <a:xfrm>
            <a:off x="571500" y="476250"/>
            <a:ext cx="11601450" cy="466725"/>
          </a:xfrm>
          <a:prstGeom prst="rect">
            <a:avLst/>
          </a:prstGeom>
          <a:noFill/>
        </p:spPr>
        <p:txBody>
          <a:bodyPr wrap="square" lIns="0" rIns="0" tIns="0" bIns="0" anchor="t">
            <a:spAutoFit/>
          </a:bodyPr>
          <a:lstStyle/>
          <a:p>
            <a:pPr algn="l"/>
            <a:r>
              <a:rPr b="1" sz="2700" i="0" u="none">
                <a:solidFill>
                  <a:srgbClr val="0F172A"/>
                </a:solidFill>
                <a:latin typeface="Noto Sans JP"/>
              </a:rPr>
              <a:t>手探りのスタートと手法模索</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27162"/>
            <a:ext cx="5334000" cy="3698974"/>
          </a:xfrm>
          <a:prstGeom prst="rect">
            <a:avLst/>
          </a:prstGeom>
        </p:spPr>
      </p:pic>
      <p:pic>
        <p:nvPicPr>
          <p:cNvPr id="4" name="Picture 3" descr="image.png"/>
          <p:cNvPicPr>
            <a:picLocks noChangeAspect="1"/>
          </p:cNvPicPr>
          <p:nvPr/>
        </p:nvPicPr>
        <p:blipFill>
          <a:blip r:embed="rId4"/>
          <a:stretch>
            <a:fillRect/>
          </a:stretch>
        </p:blipFill>
        <p:spPr>
          <a:xfrm>
            <a:off x="6286500" y="1827162"/>
            <a:ext cx="5334000" cy="1754237"/>
          </a:xfrm>
          <a:prstGeom prst="rect">
            <a:avLst/>
          </a:prstGeom>
        </p:spPr>
      </p:pic>
      <p:pic>
        <p:nvPicPr>
          <p:cNvPr id="5" name="Picture 4" descr="image.png"/>
          <p:cNvPicPr>
            <a:picLocks noChangeAspect="1"/>
          </p:cNvPicPr>
          <p:nvPr/>
        </p:nvPicPr>
        <p:blipFill>
          <a:blip r:embed="rId5"/>
          <a:stretch>
            <a:fillRect/>
          </a:stretch>
        </p:blipFill>
        <p:spPr>
          <a:xfrm>
            <a:off x="6286500" y="3771900"/>
            <a:ext cx="5334000" cy="1754237"/>
          </a:xfrm>
          <a:prstGeom prst="rect">
            <a:avLst/>
          </a:prstGeom>
        </p:spPr>
      </p:pic>
      <p:sp>
        <p:nvSpPr>
          <p:cNvPr id="6" name="TextBox 5"/>
          <p:cNvSpPr txBox="1"/>
          <p:nvPr/>
        </p:nvSpPr>
        <p:spPr>
          <a:xfrm>
            <a:off x="1990725" y="2852737"/>
            <a:ext cx="2495550" cy="1143000"/>
          </a:xfrm>
          <a:prstGeom prst="rect">
            <a:avLst/>
          </a:prstGeom>
          <a:noFill/>
        </p:spPr>
        <p:txBody>
          <a:bodyPr wrap="square" lIns="0" rIns="0" tIns="0" bIns="0" anchor="t">
            <a:spAutoFit/>
          </a:bodyPr>
          <a:lstStyle/>
          <a:p>
            <a:pPr algn="ctr">
              <a:lnSpc>
                <a:spcPts val="9000"/>
              </a:lnSpc>
            </a:pPr>
            <a:r>
              <a:rPr b="1" sz="9000" i="0" u="none">
                <a:solidFill>
                  <a:srgbClr val="0284C7"/>
                </a:solidFill>
                <a:latin typeface="Poppins"/>
              </a:rPr>
              <a:t>0.98</a:t>
            </a:r>
          </a:p>
        </p:txBody>
      </p:sp>
      <p:sp>
        <p:nvSpPr>
          <p:cNvPr id="7" name="TextBox 6"/>
          <p:cNvSpPr txBox="1"/>
          <p:nvPr/>
        </p:nvSpPr>
        <p:spPr>
          <a:xfrm>
            <a:off x="1752600" y="4148137"/>
            <a:ext cx="2971800" cy="352425"/>
          </a:xfrm>
          <a:prstGeom prst="rect">
            <a:avLst/>
          </a:prstGeom>
          <a:noFill/>
        </p:spPr>
        <p:txBody>
          <a:bodyPr wrap="square" lIns="0" rIns="0" tIns="0" bIns="0" anchor="t">
            <a:spAutoFit/>
          </a:bodyPr>
          <a:lstStyle/>
          <a:p>
            <a:pPr algn="ctr"/>
            <a:r>
              <a:rPr b="1" sz="1950" i="0" u="none">
                <a:solidFill>
                  <a:srgbClr val="0369A1"/>
                </a:solidFill>
                <a:latin typeface="Noto Sans JP"/>
              </a:rPr>
              <a:t>相関係数（ほぼ完全一致）</a:t>
            </a:r>
          </a:p>
        </p:txBody>
      </p:sp>
      <p:sp>
        <p:nvSpPr>
          <p:cNvPr id="8" name="TextBox 7"/>
          <p:cNvSpPr txBox="1"/>
          <p:nvPr/>
        </p:nvSpPr>
        <p:spPr>
          <a:xfrm>
            <a:off x="6610350" y="2055762"/>
            <a:ext cx="4980622" cy="333375"/>
          </a:xfrm>
          <a:prstGeom prst="rect">
            <a:avLst/>
          </a:prstGeom>
          <a:noFill/>
        </p:spPr>
        <p:txBody>
          <a:bodyPr wrap="square" lIns="304800" rIns="0" tIns="0" bIns="0" anchor="t">
            <a:spAutoFit/>
          </a:bodyPr>
          <a:lstStyle/>
          <a:p>
            <a:pPr algn="l"/>
            <a:r>
              <a:rPr b="1" sz="1800" i="0" u="none">
                <a:solidFill>
                  <a:srgbClr val="0F172A"/>
                </a:solidFill>
                <a:latin typeface="Noto Sans JP"/>
              </a:rPr>
              <a:t>決定ロジックの解明</a:t>
            </a:r>
          </a:p>
        </p:txBody>
      </p:sp>
      <p:sp>
        <p:nvSpPr>
          <p:cNvPr id="9" name="TextBox 8"/>
          <p:cNvSpPr txBox="1"/>
          <p:nvPr/>
        </p:nvSpPr>
        <p:spPr>
          <a:xfrm>
            <a:off x="6610350" y="2484387"/>
            <a:ext cx="4743450" cy="868412"/>
          </a:xfrm>
          <a:prstGeom prst="rect">
            <a:avLst/>
          </a:prstGeom>
          <a:noFill/>
        </p:spPr>
        <p:txBody>
          <a:bodyPr wrap="square" lIns="0" rIns="0" tIns="0" bIns="0" anchor="t">
            <a:spAutoFit/>
          </a:bodyPr>
          <a:lstStyle/>
          <a:p>
            <a:pPr algn="l">
              <a:lnSpc>
                <a:spcPts val="2279"/>
              </a:lnSpc>
            </a:pPr>
            <a:r>
              <a:rPr b="0" sz="1425" i="0" u="none">
                <a:solidFill>
                  <a:srgbClr val="334155"/>
                </a:solidFill>
                <a:latin typeface="Noto Sans JP"/>
              </a:rPr>
              <a:t>元メンバー（県庁・黒崎氏）が協会けんぽ資料から「保険料率の計算式と基礎データ」を発見。重回帰分析により決定構造を立証！</a:t>
            </a:r>
          </a:p>
        </p:txBody>
      </p:sp>
      <p:sp>
        <p:nvSpPr>
          <p:cNvPr id="10" name="TextBox 9"/>
          <p:cNvSpPr txBox="1"/>
          <p:nvPr/>
        </p:nvSpPr>
        <p:spPr>
          <a:xfrm>
            <a:off x="6610350" y="4000500"/>
            <a:ext cx="4980622" cy="333375"/>
          </a:xfrm>
          <a:prstGeom prst="rect">
            <a:avLst/>
          </a:prstGeom>
          <a:noFill/>
        </p:spPr>
        <p:txBody>
          <a:bodyPr wrap="square" lIns="304800" rIns="0" tIns="0" bIns="0" anchor="t">
            <a:spAutoFit/>
          </a:bodyPr>
          <a:lstStyle/>
          <a:p>
            <a:pPr algn="l"/>
            <a:r>
              <a:rPr b="1" sz="1800" i="0" u="none">
                <a:solidFill>
                  <a:srgbClr val="0F172A"/>
                </a:solidFill>
                <a:latin typeface="Noto Sans JP"/>
              </a:rPr>
              <a:t>スコープの最適化</a:t>
            </a:r>
          </a:p>
        </p:txBody>
      </p:sp>
      <p:sp>
        <p:nvSpPr>
          <p:cNvPr id="11" name="TextBox 10"/>
          <p:cNvSpPr txBox="1"/>
          <p:nvPr/>
        </p:nvSpPr>
        <p:spPr>
          <a:xfrm>
            <a:off x="6610350" y="4429125"/>
            <a:ext cx="4743450" cy="868412"/>
          </a:xfrm>
          <a:prstGeom prst="rect">
            <a:avLst/>
          </a:prstGeom>
          <a:noFill/>
        </p:spPr>
        <p:txBody>
          <a:bodyPr wrap="square" lIns="0" rIns="0" tIns="0" bIns="0" anchor="t">
            <a:spAutoFit/>
          </a:bodyPr>
          <a:lstStyle/>
          <a:p>
            <a:pPr algn="l">
              <a:lnSpc>
                <a:spcPts val="2279"/>
              </a:lnSpc>
            </a:pPr>
            <a:r>
              <a:rPr b="0" sz="1425" i="0" u="none">
                <a:solidFill>
                  <a:srgbClr val="334155"/>
                </a:solidFill>
                <a:latin typeface="Noto Sans JP"/>
              </a:rPr>
              <a:t>未来予測の深掘りは期間上断念し、判明したロジックに基づく「シミュレータ制作」と成果物の完成度に注力する方針へ転換。</a:t>
            </a:r>
          </a:p>
        </p:txBody>
      </p:sp>
      <p:pic>
        <p:nvPicPr>
          <p:cNvPr id="12" name="Picture 11" descr="image.png"/>
          <p:cNvPicPr>
            <a:picLocks noChangeAspect="1"/>
          </p:cNvPicPr>
          <p:nvPr/>
        </p:nvPicPr>
        <p:blipFill>
          <a:blip r:embed="rId6"/>
          <a:stretch>
            <a:fillRect/>
          </a:stretch>
        </p:blipFill>
        <p:spPr>
          <a:xfrm>
            <a:off x="6610350" y="2122437"/>
            <a:ext cx="228600" cy="228600"/>
          </a:xfrm>
          <a:prstGeom prst="rect">
            <a:avLst/>
          </a:prstGeom>
        </p:spPr>
      </p:pic>
      <p:pic>
        <p:nvPicPr>
          <p:cNvPr id="13" name="Picture 12" descr="image.png"/>
          <p:cNvPicPr>
            <a:picLocks noChangeAspect="1"/>
          </p:cNvPicPr>
          <p:nvPr/>
        </p:nvPicPr>
        <p:blipFill>
          <a:blip r:embed="rId7"/>
          <a:stretch>
            <a:fillRect/>
          </a:stretch>
        </p:blipFill>
        <p:spPr>
          <a:xfrm>
            <a:off x="6610350" y="4067175"/>
            <a:ext cx="228600" cy="228600"/>
          </a:xfrm>
          <a:prstGeom prst="rect">
            <a:avLst/>
          </a:prstGeom>
        </p:spPr>
      </p:pic>
      <p:sp>
        <p:nvSpPr>
          <p:cNvPr id="14" name="TextBox 13"/>
          <p:cNvSpPr txBox="1"/>
          <p:nvPr/>
        </p:nvSpPr>
        <p:spPr>
          <a:xfrm>
            <a:off x="571500" y="476250"/>
            <a:ext cx="11601450" cy="495300"/>
          </a:xfrm>
          <a:prstGeom prst="rect">
            <a:avLst/>
          </a:prstGeom>
          <a:noFill/>
        </p:spPr>
        <p:txBody>
          <a:bodyPr wrap="square" lIns="0" rIns="0" tIns="0" bIns="0" anchor="t">
            <a:spAutoFit/>
          </a:bodyPr>
          <a:lstStyle/>
          <a:p>
            <a:pPr algn="l"/>
            <a:r>
              <a:rPr b="1" sz="2700" i="0" u="none">
                <a:solidFill>
                  <a:srgbClr val="0F172A"/>
                </a:solidFill>
                <a:latin typeface="Noto Sans JP"/>
              </a:rPr>
              <a:t>数式発見と相関係数 0.98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00275"/>
            <a:ext cx="5334000" cy="2924175"/>
          </a:xfrm>
          <a:prstGeom prst="rect">
            <a:avLst/>
          </a:prstGeom>
        </p:spPr>
      </p:pic>
      <p:pic>
        <p:nvPicPr>
          <p:cNvPr id="4" name="Picture 3" descr="image.png"/>
          <p:cNvPicPr>
            <a:picLocks noChangeAspect="1"/>
          </p:cNvPicPr>
          <p:nvPr/>
        </p:nvPicPr>
        <p:blipFill>
          <a:blip r:embed="rId4"/>
          <a:stretch>
            <a:fillRect/>
          </a:stretch>
        </p:blipFill>
        <p:spPr>
          <a:xfrm>
            <a:off x="6286500" y="2200275"/>
            <a:ext cx="5334000" cy="2924175"/>
          </a:xfrm>
          <a:prstGeom prst="rect">
            <a:avLst/>
          </a:prstGeom>
        </p:spPr>
      </p:pic>
      <p:pic>
        <p:nvPicPr>
          <p:cNvPr id="5" name="Picture 4" descr="image.png"/>
          <p:cNvPicPr>
            <a:picLocks noChangeAspect="1"/>
          </p:cNvPicPr>
          <p:nvPr/>
        </p:nvPicPr>
        <p:blipFill>
          <a:blip r:embed="rId5"/>
          <a:stretch>
            <a:fillRect/>
          </a:stretch>
        </p:blipFill>
        <p:spPr>
          <a:xfrm>
            <a:off x="962025" y="2590800"/>
            <a:ext cx="533400" cy="533400"/>
          </a:xfrm>
          <a:prstGeom prst="rect">
            <a:avLst/>
          </a:prstGeom>
        </p:spPr>
      </p:pic>
      <p:sp>
        <p:nvSpPr>
          <p:cNvPr id="6" name="TextBox 5"/>
          <p:cNvSpPr txBox="1"/>
          <p:nvPr/>
        </p:nvSpPr>
        <p:spPr>
          <a:xfrm>
            <a:off x="962025" y="3352800"/>
            <a:ext cx="4780597" cy="333375"/>
          </a:xfrm>
          <a:prstGeom prst="rect">
            <a:avLst/>
          </a:prstGeom>
          <a:noFill/>
        </p:spPr>
        <p:txBody>
          <a:bodyPr wrap="square" lIns="0" rIns="0" tIns="0" bIns="0" anchor="t">
            <a:spAutoFit/>
          </a:bodyPr>
          <a:lstStyle/>
          <a:p>
            <a:pPr algn="l"/>
            <a:r>
              <a:rPr b="1" sz="1950" i="0" u="none">
                <a:solidFill>
                  <a:srgbClr val="0F172A"/>
                </a:solidFill>
                <a:latin typeface="Noto Sans JP"/>
              </a:rPr>
              <a:t>スタジアムシティでの打合せ</a:t>
            </a:r>
          </a:p>
        </p:txBody>
      </p:sp>
      <p:sp>
        <p:nvSpPr>
          <p:cNvPr id="7" name="TextBox 6"/>
          <p:cNvSpPr txBox="1"/>
          <p:nvPr/>
        </p:nvSpPr>
        <p:spPr>
          <a:xfrm>
            <a:off x="962025" y="3819525"/>
            <a:ext cx="4552950" cy="914400"/>
          </a:xfrm>
          <a:prstGeom prst="rect">
            <a:avLst/>
          </a:prstGeom>
          <a:noFill/>
        </p:spPr>
        <p:txBody>
          <a:bodyPr wrap="square" lIns="0" rIns="0" tIns="0" bIns="0" anchor="t">
            <a:spAutoFit/>
          </a:bodyPr>
          <a:lstStyle/>
          <a:p>
            <a:pPr algn="l">
              <a:lnSpc>
                <a:spcPts val="2400"/>
              </a:lnSpc>
            </a:pPr>
            <a:r>
              <a:rPr b="0" sz="1500" i="0" u="none">
                <a:solidFill>
                  <a:srgbClr val="475569"/>
                </a:solidFill>
                <a:latin typeface="Noto Sans JP"/>
              </a:rPr>
              <a:t>先週22日（土）に集結。限られた発表時間内では伝えきれない分析結果とプロセスを網羅して届ける方針を決定。</a:t>
            </a:r>
          </a:p>
        </p:txBody>
      </p:sp>
      <p:pic>
        <p:nvPicPr>
          <p:cNvPr id="8" name="Picture 7" descr="image.png"/>
          <p:cNvPicPr>
            <a:picLocks noChangeAspect="1"/>
          </p:cNvPicPr>
          <p:nvPr/>
        </p:nvPicPr>
        <p:blipFill>
          <a:blip r:embed="rId5"/>
          <a:stretch>
            <a:fillRect/>
          </a:stretch>
        </p:blipFill>
        <p:spPr>
          <a:xfrm>
            <a:off x="6677025" y="2590800"/>
            <a:ext cx="533400" cy="533400"/>
          </a:xfrm>
          <a:prstGeom prst="rect">
            <a:avLst/>
          </a:prstGeom>
        </p:spPr>
      </p:pic>
      <p:sp>
        <p:nvSpPr>
          <p:cNvPr id="9" name="TextBox 8"/>
          <p:cNvSpPr txBox="1"/>
          <p:nvPr/>
        </p:nvSpPr>
        <p:spPr>
          <a:xfrm>
            <a:off x="6677025" y="3352800"/>
            <a:ext cx="4780597" cy="333375"/>
          </a:xfrm>
          <a:prstGeom prst="rect">
            <a:avLst/>
          </a:prstGeom>
          <a:noFill/>
        </p:spPr>
        <p:txBody>
          <a:bodyPr wrap="square" lIns="0" rIns="0" tIns="0" bIns="0" anchor="t">
            <a:spAutoFit/>
          </a:bodyPr>
          <a:lstStyle/>
          <a:p>
            <a:pPr algn="l"/>
            <a:r>
              <a:rPr b="1" sz="1950" i="0" u="none">
                <a:solidFill>
                  <a:srgbClr val="0F172A"/>
                </a:solidFill>
                <a:latin typeface="Noto Sans JP"/>
              </a:rPr>
              <a:t>成果物ポータル（Web）の制作</a:t>
            </a:r>
          </a:p>
        </p:txBody>
      </p:sp>
      <p:sp>
        <p:nvSpPr>
          <p:cNvPr id="10" name="TextBox 9"/>
          <p:cNvSpPr txBox="1"/>
          <p:nvPr/>
        </p:nvSpPr>
        <p:spPr>
          <a:xfrm>
            <a:off x="6677025" y="3819525"/>
            <a:ext cx="4552950" cy="914400"/>
          </a:xfrm>
          <a:prstGeom prst="rect">
            <a:avLst/>
          </a:prstGeom>
          <a:noFill/>
        </p:spPr>
        <p:txBody>
          <a:bodyPr wrap="square" lIns="0" rIns="0" tIns="0" bIns="0" anchor="t">
            <a:spAutoFit/>
          </a:bodyPr>
          <a:lstStyle/>
          <a:p>
            <a:pPr algn="l">
              <a:lnSpc>
                <a:spcPts val="2400"/>
              </a:lnSpc>
            </a:pPr>
            <a:r>
              <a:rPr b="0" sz="1500" i="0" u="none">
                <a:solidFill>
                  <a:srgbClr val="475569"/>
                </a:solidFill>
                <a:latin typeface="Noto Sans JP"/>
              </a:rPr>
              <a:t>プレゼン資料に加え、データ分析実例、インタラクティブな保険料率シミュレータ等の全成果を1つのWebサイトに集約して公開！</a:t>
            </a:r>
          </a:p>
        </p:txBody>
      </p:sp>
      <p:pic>
        <p:nvPicPr>
          <p:cNvPr id="11" name="Picture 10" descr="image.png"/>
          <p:cNvPicPr>
            <a:picLocks noChangeAspect="1"/>
          </p:cNvPicPr>
          <p:nvPr/>
        </p:nvPicPr>
        <p:blipFill>
          <a:blip r:embed="rId6"/>
          <a:stretch>
            <a:fillRect/>
          </a:stretch>
        </p:blipFill>
        <p:spPr>
          <a:xfrm>
            <a:off x="1124991" y="2724150"/>
            <a:ext cx="207466" cy="266700"/>
          </a:xfrm>
          <a:prstGeom prst="rect">
            <a:avLst/>
          </a:prstGeom>
        </p:spPr>
      </p:pic>
      <p:pic>
        <p:nvPicPr>
          <p:cNvPr id="12" name="Picture 11" descr="image.png"/>
          <p:cNvPicPr>
            <a:picLocks noChangeAspect="1"/>
          </p:cNvPicPr>
          <p:nvPr/>
        </p:nvPicPr>
        <p:blipFill>
          <a:blip r:embed="rId7"/>
          <a:stretch>
            <a:fillRect/>
          </a:stretch>
        </p:blipFill>
        <p:spPr>
          <a:xfrm>
            <a:off x="6839991" y="2724150"/>
            <a:ext cx="207466" cy="266700"/>
          </a:xfrm>
          <a:prstGeom prst="rect">
            <a:avLst/>
          </a:prstGeom>
        </p:spPr>
      </p:pic>
      <p:sp>
        <p:nvSpPr>
          <p:cNvPr id="13" name="TextBox 12"/>
          <p:cNvSpPr txBox="1"/>
          <p:nvPr/>
        </p:nvSpPr>
        <p:spPr>
          <a:xfrm>
            <a:off x="571500" y="476250"/>
            <a:ext cx="11601450" cy="466725"/>
          </a:xfrm>
          <a:prstGeom prst="rect">
            <a:avLst/>
          </a:prstGeom>
          <a:noFill/>
        </p:spPr>
        <p:txBody>
          <a:bodyPr wrap="square" lIns="0" rIns="0" tIns="0" bIns="0" anchor="t">
            <a:spAutoFit/>
          </a:bodyPr>
          <a:lstStyle/>
          <a:p>
            <a:pPr algn="l"/>
            <a:r>
              <a:rPr b="1" sz="2700" i="0" u="none">
                <a:solidFill>
                  <a:srgbClr val="0F172A"/>
                </a:solidFill>
                <a:latin typeface="Noto Sans JP"/>
              </a:rPr>
              <a:t>成果物の集約とWeb公開へ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791FBE46F30B9645A363559095358883" ma:contentTypeVersion="11" ma:contentTypeDescription="新しいドキュメントを作成します。" ma:contentTypeScope="" ma:versionID="63749f3fb80612aed3e029516aacef76">
  <xsd:schema xmlns:xsd="http://www.w3.org/2001/XMLSchema" xmlns:xs="http://www.w3.org/2001/XMLSchema" xmlns:p="http://schemas.microsoft.com/office/2006/metadata/properties" xmlns:ns2="09145a60-8193-4ef9-9bfb-5be5473dd1fb" xmlns:ns3="cf6b417a-a01e-4c9e-86f7-df4e372b5e16" targetNamespace="http://schemas.microsoft.com/office/2006/metadata/properties" ma:root="true" ma:fieldsID="8a2785a53d636fbd340ca71639342d5d" ns2:_="" ns3:_="">
    <xsd:import namespace="09145a60-8193-4ef9-9bfb-5be5473dd1fb"/>
    <xsd:import namespace="cf6b417a-a01e-4c9e-86f7-df4e372b5e1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145a60-8193-4ef9-9bfb-5be5473dd1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b5dbca49-9807-4b4a-a9f6-911112dc69c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f6b417a-a01e-4c9e-86f7-df4e372b5e1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51dec24-8445-4afc-ac2b-de950df422a4}" ma:internalName="TaxCatchAll" ma:showField="CatchAllData" ma:web="cf6b417a-a01e-4c9e-86f7-df4e372b5e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f6b417a-a01e-4c9e-86f7-df4e372b5e16" xsi:nil="true"/>
    <lcf76f155ced4ddcb4097134ff3c332f xmlns="09145a60-8193-4ef9-9bfb-5be5473dd1f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AFDB84E-54AA-48C6-B45A-16162CAD3D4B}"/>
</file>

<file path=customXml/itemProps2.xml><?xml version="1.0" encoding="utf-8"?>
<ds:datastoreItem xmlns:ds="http://schemas.openxmlformats.org/officeDocument/2006/customXml" ds:itemID="{96499BD2-9D50-4D5D-B42B-1CFB9090997B}"/>
</file>

<file path=customXml/itemProps3.xml><?xml version="1.0" encoding="utf-8"?>
<ds:datastoreItem xmlns:ds="http://schemas.openxmlformats.org/officeDocument/2006/customXml" ds:itemID="{3D29FFB2-A24B-48E1-A05D-00E3E7623ACA}"/>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0x010100791FBE46F30B9645A363559095358883</vt:lpwstr>
  </property>
</Properties>
</file>