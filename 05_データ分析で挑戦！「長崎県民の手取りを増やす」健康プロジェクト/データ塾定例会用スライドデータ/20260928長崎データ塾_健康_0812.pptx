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6858000" cy="9144000"/>
  <p:embeddedFontLst>
    <p:embeddedFont>
      <p:font typeface="Nunito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125b27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8125b27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067a454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067a454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d1e87e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d1e87e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cde3a7f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6cde3a7f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58f58df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a58f58df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cde3a7f9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6cde3a7f9_1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cde3a7f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6cde3a7f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cde3a7f9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cde3a7f9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cde3a7f9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6cde3a7f9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cde3a7f9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6cde3a7f9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cde3a7f9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cde3a7f9_1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6cde3a7f9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6cde3a7f9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cde3a7f9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cde3a7f9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6cde3a7f9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6cde3a7f9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cde3a7f9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cde3a7f9_1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6cde3a7f9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6cde3a7f9_1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cde3a7f9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6cde3a7f9_1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93747" y="596583"/>
            <a:ext cx="8520600" cy="16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460" b="1"/>
              <a:t>データ分析で挑戦！</a:t>
            </a:r>
            <a:endParaRPr sz="346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460" b="1"/>
              <a:t>「長崎県民の手取りを増やす」</a:t>
            </a:r>
            <a:endParaRPr sz="346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460" b="1"/>
              <a:t>健康プロジェクト</a:t>
            </a:r>
            <a:endParaRPr sz="3460" b="1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93747" y="2377737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ja" sz="2020" b="1"/>
              <a:t>協会けんぽ長崎支部の</a:t>
            </a:r>
            <a:endParaRPr sz="2020" b="1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ja" sz="2020" b="1"/>
              <a:t>「保険料率」を下げるには、どうすればいいか？</a:t>
            </a:r>
            <a:endParaRPr sz="2020" b="1"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293750" y="3656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/>
              <a:t>高見 吉忠、加藤 空武、黒﨑 滉一郎、小場 康剛、直江 孝之、森下 享、辻本 航</a:t>
            </a:r>
            <a:endParaRPr sz="1500"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1"/>
          </p:nvPr>
        </p:nvSpPr>
        <p:spPr>
          <a:xfrm>
            <a:off x="281959" y="30839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b="1"/>
              <a:t>長崎データ塾2026/9/28</a:t>
            </a:r>
            <a:endParaRPr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body" idx="4294967295"/>
          </p:nvPr>
        </p:nvSpPr>
        <p:spPr>
          <a:xfrm>
            <a:off x="1242775" y="1318625"/>
            <a:ext cx="6332700" cy="32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なぜ今、この分析が必要なのか（Pain - 現状の痛み）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長崎県の悩み： 特定健診受診率が全国ワースト2位。病気が重症化しやすく、医療費が高い構造。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私たちへの影響： 医療費が高いと、健康保険料率が上がる。長崎県の協会けんぽ保険料率は**10.45%（全国ワースト4位）**という厳しい現実。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アプローチの転換： 「健康になろう」という精神論では人は動かない。**「保険料が安くなる＝手取りが増える」**という圧倒的な「お金のメリット」で行動変容を促す。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l="770" r="513" b="2430"/>
          <a:stretch/>
        </p:blipFill>
        <p:spPr>
          <a:xfrm>
            <a:off x="1199835" y="1016349"/>
            <a:ext cx="6519674" cy="359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242780" y="1318631"/>
            <a:ext cx="2198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000" tIns="67000" rIns="67000" bIns="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879"/>
              <a:t> </a:t>
            </a:r>
            <a:r>
              <a:rPr lang="ja" sz="806"/>
              <a:t> </a:t>
            </a:r>
            <a:endParaRPr sz="1026"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4294967295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協会けんぽ長崎支部の保険料率について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見過ごされている「お金」の現実</a:t>
            </a:r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1463100" y="1570125"/>
            <a:ext cx="5967900" cy="28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長崎県民の給与から引かれる健康保険料は、全国平均より年間数万円も高い現実があります。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【比較表】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長崎県：10.45%（ワースト4位） → 年収400万円で約209,000円の負担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新潟県：9.35%（全国最低水準） → 年収400万円で約187,000円の負担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差額：約1.1% ＝ 年収400万円なら【年間 約44,000円】の負担増！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この差は、従業員の手取り減少だけでなく、企業の利益（会社負担分）を直接的に圧迫しています。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75" y="1220050"/>
            <a:ext cx="7073621" cy="35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2262009" y="2770009"/>
            <a:ext cx="2001600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000" tIns="61000" rIns="61000" bIns="6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801"/>
              <a:t> </a:t>
            </a:r>
            <a:r>
              <a:rPr lang="ja" sz="734"/>
              <a:t> </a:t>
            </a:r>
            <a:endParaRPr sz="934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38176"/>
          <a:stretch/>
        </p:blipFill>
        <p:spPr>
          <a:xfrm>
            <a:off x="303200" y="254175"/>
            <a:ext cx="8559026" cy="46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九州が抱える構造的なハンディ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4336000" y="1606450"/>
            <a:ext cx="4122900" cy="32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全国ワースト5のうち、4県が九州に集中しています（佐賀、福岡、熊本、長崎、鹿児島）。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このままでは、九州・長崎の企業は「高い固定費（社会保険料）」によって、全国での経済的競争力を失っていくリスクがあります。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50" y="1239625"/>
            <a:ext cx="3212774" cy="32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2809"/>
          <a:stretch/>
        </p:blipFill>
        <p:spPr>
          <a:xfrm>
            <a:off x="192830" y="193090"/>
            <a:ext cx="8762527" cy="475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年間「170億円」について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2260175" y="1592250"/>
            <a:ext cx="5388300" cy="30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保険料率の引き下げは、単なるコスト削減ではありません。**「県外流出資金の県内還流」**という巨大な経済政策です。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【試算】 長崎県の保険料率を新潟県レベルまで改善できた場合、**【年間約 170億円】**の資金が県内に残ります。（※0.1%の改善でも約16億円）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「流出する医療費」を「循環する地域経済（家計の余裕・企業の投資）」へ変えることが目標です。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4498"/>
          <a:stretch/>
        </p:blipFill>
        <p:spPr>
          <a:xfrm>
            <a:off x="1265600" y="1004575"/>
            <a:ext cx="6995750" cy="37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969485" y="2774310"/>
            <a:ext cx="1470600" cy="14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825" tIns="44825" rIns="44825" bIns="44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588"/>
              <a:t> </a:t>
            </a:r>
            <a:r>
              <a:rPr lang="ja" sz="539"/>
              <a:t> </a:t>
            </a:r>
            <a:endParaRPr sz="68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208636"/>
            <a:ext cx="8675151" cy="46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383850" y="369625"/>
            <a:ext cx="8401800" cy="9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データ分析開始と、確認作業、軌道修正</a:t>
            </a: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791150" y="1590825"/>
            <a:ext cx="5587200" cy="23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初期の仮説： 「協会けんぽの『インセンティブ5指標（健診やジェネリック等）』を頑張って点数を稼げば、保険料率は下がるはずだ」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データ検証： 47都道府県の重回帰分析を実施。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結果： インセンティブ5指標と保険料率の決定係数（R²）は約0.2。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突きつけられた現実： インセンティブの点数稼ぎだけでは、保険料率はほとんど変わらない。（※インセンティブは最大±0.46%の調整項に過ぎない）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チームの気づき： 制度上の「点数」に気を取られすぎていた。この“勘違い”に気づき、分析の本質を「医療費そのものを減らす」方向へと軌道修正しました。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2818"/>
          <a:stretch/>
        </p:blipFill>
        <p:spPr>
          <a:xfrm>
            <a:off x="824550" y="966725"/>
            <a:ext cx="7520399" cy="37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227441" y="2514366"/>
            <a:ext cx="14772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25" tIns="45025" rIns="45025" bIns="45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591"/>
              <a:t> </a:t>
            </a:r>
            <a:r>
              <a:rPr lang="ja" sz="542"/>
              <a:t> </a:t>
            </a:r>
            <a:endParaRPr sz="68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真の「阻害要因」はどこにあるのか？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1648850" y="1698750"/>
            <a:ext cx="6426000" cy="1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保険料率の約9割を決めているものは何か？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保険料率 ≒ 医療給付費 ÷ 総報酬（給与総額）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医療給付費の2つの柱：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現金給付（傷病手当金など）：病気を防ぐだけでは減らせない。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療養給付（診察、薬、入院費）：病気の重症化を防ぐことで大幅に削減可能。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結論： インセンティブの点数ではなく、**「療養給付費（医療費そのもの）」**を減らさなければ、長崎の保険料率は絶対に下がらない。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l="3293" t="3201" r="2072" b="26132"/>
          <a:stretch/>
        </p:blipFill>
        <p:spPr>
          <a:xfrm>
            <a:off x="1216125" y="1088981"/>
            <a:ext cx="6711751" cy="27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3280151" y="3719026"/>
            <a:ext cx="1410300" cy="14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975" tIns="42975" rIns="42975" bIns="4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564"/>
              <a:t> </a:t>
            </a:r>
            <a:r>
              <a:rPr lang="ja" sz="517"/>
              <a:t> </a:t>
            </a:r>
            <a:endParaRPr sz="658"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755650" y="3946875"/>
            <a:ext cx="79611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900" b="1">
                <a:solidFill>
                  <a:srgbClr val="191919"/>
                </a:solidFill>
              </a:rPr>
              <a:t>インセンティブの点数ではなく、「療養給付費（医療費そのもの）」を減らさなければ、長崎の保険料率は下がらない。</a:t>
            </a:r>
            <a:endParaRPr sz="1900" b="1">
              <a:solidFill>
                <a:srgbClr val="19191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地域特性という巨大な壁（病床数との相関）</a:t>
            </a:r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body" idx="1"/>
          </p:nvPr>
        </p:nvSpPr>
        <p:spPr>
          <a:xfrm>
            <a:off x="2577463" y="1734375"/>
            <a:ext cx="4350600" cy="24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医療費を押し上げている構造的要因を探索した結果、**「病床数」**に行き着きました。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データが示す真実： 人口10万人あたりの病床数が多い都道府県ほど、医療給付費が高い（相関係数 r ≈ 0.4〜0.5）。長崎県は全国平均を大きく上回っています。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メカニズム： 病床が多い → 入院させやすくなる（誘発需要） → 入院期間が長期化する → 医療費が膨張する。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3">
            <a:alphaModFix/>
          </a:blip>
          <a:srcRect b="2969"/>
          <a:stretch/>
        </p:blipFill>
        <p:spPr>
          <a:xfrm>
            <a:off x="1137112" y="912900"/>
            <a:ext cx="7231325" cy="39174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2853323" y="2779548"/>
            <a:ext cx="1289400" cy="12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300" tIns="39300" rIns="39300" bIns="39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516"/>
              <a:t> </a:t>
            </a:r>
            <a:r>
              <a:rPr lang="ja" sz="473"/>
              <a:t> </a:t>
            </a:r>
            <a:endParaRPr sz="602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アプローチ</a:t>
            </a: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body" idx="1"/>
          </p:nvPr>
        </p:nvSpPr>
        <p:spPr>
          <a:xfrm>
            <a:off x="5032650" y="1080450"/>
            <a:ext cx="3612600" cy="32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「医療費（療養給付費）を下げよう」「入院期間を短くしよう」と経営者に言っても、ピンときません。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だからこそ、「インセンティブ（お金）」を入り口にします。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戦略： 経営者には「インセンティブで保険料が下がる（手取りが増える）」という分かりやすいエサ（シミュレーター）を提供する。それに乗って企業が「健診」を推進すれば、結果として早期発見が進み、「療養給付費（重症化・長期入院）」が減り、真の保険料率低下に繋がる仕組みで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l="4716" r="28773"/>
          <a:stretch/>
        </p:blipFill>
        <p:spPr>
          <a:xfrm>
            <a:off x="853025" y="1006300"/>
            <a:ext cx="4179624" cy="3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1408420" y="3050520"/>
            <a:ext cx="1055400" cy="1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175" tIns="32175" rIns="32175" bIns="32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422"/>
              <a:t> </a:t>
            </a:r>
            <a:r>
              <a:rPr lang="ja" sz="387"/>
              <a:t> </a:t>
            </a:r>
            <a:endParaRPr sz="49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アプローチについて</a:t>
            </a:r>
            <a:endParaRPr/>
          </a:p>
        </p:txBody>
      </p:sp>
      <p:sp>
        <p:nvSpPr>
          <p:cNvPr id="217" name="Google Shape;217;p25"/>
          <p:cNvSpPr txBox="1">
            <a:spLocks noGrp="1"/>
          </p:cNvSpPr>
          <p:nvPr>
            <p:ph type="body" idx="1"/>
          </p:nvPr>
        </p:nvSpPr>
        <p:spPr>
          <a:xfrm>
            <a:off x="2319100" y="1317600"/>
            <a:ext cx="4378800" cy="28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比較項目	従来のアプローチ	ケンポー団のデータドリブン・アプローチ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誰にアプローチするか	全員に一律で呼びかけ	データで効果の高い層を特定しターゲットを絞る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何を伝えるか	「健康のため」という精神論	「手取り増・コスト減」という経済的メリットの可視化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どうやって伝えるか	ポスター・チラシでの一斉周知	シミュレーターで個別企業の削減額を提示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効果の測定	測定が難しく、PDCAが回らない	投資対効果（ROI）が明確で、改善施策の効果検証が可能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行動変容のエンジン	「やるべきだから」という義務感	「やれば得をする」という納得感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 l="2784" t="13813" r="2850" b="2372"/>
          <a:stretch/>
        </p:blipFill>
        <p:spPr>
          <a:xfrm>
            <a:off x="819150" y="1069021"/>
            <a:ext cx="7505700" cy="372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1912414" y="3704113"/>
            <a:ext cx="15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50" tIns="46250" rIns="46250" bIns="46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607"/>
              <a:t> </a:t>
            </a:r>
            <a:r>
              <a:rPr lang="ja" sz="557"/>
              <a:t> </a:t>
            </a:r>
            <a:endParaRPr sz="70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成果物① 保険料削減シミュレーター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2260175" y="1578025"/>
            <a:ext cx="5089800" cy="24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機能： 協会けんぽのインセンティブ5指標の数値を入力すると、「翌年度の保険料率」と「削減額（会社負担・従業員手取り別）」を予測表示。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「経済効果」の見える化： 「長崎が全国トップレベルになったら、自社の利益はいくら増えるか？」を直感的に見せ、経営者の重い腰を上げさせる最強の営業ツールです。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l="1529" t="16491" r="1062" b="5317"/>
          <a:stretch/>
        </p:blipFill>
        <p:spPr>
          <a:xfrm>
            <a:off x="753468" y="1068075"/>
            <a:ext cx="8032375" cy="35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1434212" y="2842462"/>
            <a:ext cx="12513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25" tIns="38125" rIns="38125" bIns="3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500"/>
              <a:t> </a:t>
            </a:r>
            <a:r>
              <a:rPr lang="ja" sz="459"/>
              <a:t> </a:t>
            </a:r>
            <a:endParaRPr sz="584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成果物② 分析レポート（何が効かないか）</a:t>
            </a:r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body" idx="1"/>
          </p:nvPr>
        </p:nvSpPr>
        <p:spPr>
          <a:xfrm>
            <a:off x="2288600" y="1677525"/>
            <a:ext cx="4691700" cy="15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目的： 「インセンティブ指標を頑張っても保険料率が下がらない理由」を統計的に解明する。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【分析結果の要約】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| 分析項目 | 結果 | 示唆 |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| :--- | :--- | :--- |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| インセンティブ5指標 vs 保険料率 | 決定係数 R² ≈ 0.2（ほぼ相関なし） | 指標の点数稼ぎだけでは保険料率は大きく変わらない |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| 保険料率の構成要素分解 | 療養給付＋共通料率で約9割 | 本質は「医療給付費 ÷ 総報酬」にある |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| 病床数 vs 医療給付費 | 相関係数 r ≈ 0.4〜0.5 | 病床数が多い地域ほど医療費が高い。長崎は平均以上 |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【チームが得た教訓】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「私たちは『何が直接効かないか』をデータで証明しました。これは『何が本当に効くか』を探すための、最も確かな出発点です。」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 l="2651" t="15473" r="2319" b="40420"/>
          <a:stretch/>
        </p:blipFill>
        <p:spPr>
          <a:xfrm>
            <a:off x="1053912" y="1427238"/>
            <a:ext cx="6909175" cy="24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>
            <a:spLocks noGrp="1"/>
          </p:cNvSpPr>
          <p:nvPr>
            <p:ph type="title"/>
          </p:nvPr>
        </p:nvSpPr>
        <p:spPr>
          <a:xfrm>
            <a:off x="666375" y="39536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900"/>
              <a:t>「私たちは『何が直接効かないか』をデータで確認。これは『何が本当に効くか』を探すため。」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成果物③ 分析レポート（何が効くのか）</a:t>
            </a:r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2189325" y="1800425"/>
            <a:ext cx="1919100" cy="22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目的： では、企業は何をすべきか？ その答えである「特定健診の真の価値」を証明する。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【データが導き出した衝撃の事実】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① 特定健診受診率と保険料率の「負の相関」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単回帰分析の結果、特定健診受診率が10%高いと、協会けんぽの保険料率が約0.11%低いことが判明（p &lt; 0.001）。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② 特定健診受診率と生産性（県内総生産）の「正の相関」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GAM（一般化加法モデル）等を用いた解析により、特定健診受診率が10%向上すると、県民一人あたりの生産性が【約20万円】高くなることが示唆された。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【経営者へのメッセージ】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社長、健診で社員を半日休ませるのは『コスト』ではありません。健診は、医療費を下げて社会保険料負担を減らすだけでなく、**社員の生産性を一人あたり20万円押し上げる、最も利回りの良い『投資』**なのです。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2" name="Google Shape;242;p28"/>
          <p:cNvPicPr preferRelativeResize="0"/>
          <p:nvPr/>
        </p:nvPicPr>
        <p:blipFill rotWithShape="1">
          <a:blip r:embed="rId3">
            <a:alphaModFix/>
          </a:blip>
          <a:srcRect l="1560" t="27292" r="47971" b="3191"/>
          <a:stretch/>
        </p:blipFill>
        <p:spPr>
          <a:xfrm>
            <a:off x="996100" y="1506950"/>
            <a:ext cx="3906775" cy="31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>
            <a:spLocks noGrp="1"/>
          </p:cNvSpPr>
          <p:nvPr>
            <p:ph type="title"/>
          </p:nvPr>
        </p:nvSpPr>
        <p:spPr>
          <a:xfrm>
            <a:off x="5052125" y="1691750"/>
            <a:ext cx="3520500" cy="27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700"/>
              <a:t>【経営者へのメッセージ】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700"/>
              <a:t>「社長、健診で社員を半日休ませるのは『コスト』ではありません。健診は、医療費を下げて社会保険料負担を減らすだけでなく、社員の生産性を一人あたり20万円押し上げる、最も利回りの良い『投資』なのです。」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今後の展望（第2期へ）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9"/>
          <p:cNvSpPr txBox="1">
            <a:spLocks noGrp="1"/>
          </p:cNvSpPr>
          <p:nvPr>
            <p:ph type="body" idx="1"/>
          </p:nvPr>
        </p:nvSpPr>
        <p:spPr>
          <a:xfrm>
            <a:off x="483350" y="1077900"/>
            <a:ext cx="8444400" cy="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1700"/>
              <a:t>今回のプロジェクト（第1期）で得られた知見を基に、次のステップへ進みます。</a:t>
            </a:r>
            <a:endParaRPr sz="1700"/>
          </a:p>
        </p:txBody>
      </p:sp>
      <p:sp>
        <p:nvSpPr>
          <p:cNvPr id="250" name="Google Shape;250;p29"/>
          <p:cNvSpPr/>
          <p:nvPr/>
        </p:nvSpPr>
        <p:spPr>
          <a:xfrm>
            <a:off x="483350" y="1762835"/>
            <a:ext cx="8094600" cy="87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①「療養給付費」削減の因子分析（第2期の核心テーマ）： 病床数だけでなく、地域の食習慣、運動習慣など「何を頑張れば最も効率的に下がるか」の特定。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483350" y="2824809"/>
            <a:ext cx="8094600" cy="87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② 企業向け「健康投資」パッケージの作成： シミュレーターを核とした啓発資料の拡充。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483350" y="3891350"/>
            <a:ext cx="8094600" cy="87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③ 協会けんぽ・行政との連携強化： 分析結果を基に政策提言を行い、「長崎モデル」として全国展開できるエビデンスを構築する。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755650" y="36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1"/>
          </p:nvPr>
        </p:nvSpPr>
        <p:spPr>
          <a:xfrm>
            <a:off x="341200" y="1131150"/>
            <a:ext cx="8416200" cy="1440600"/>
          </a:xfrm>
          <a:prstGeom prst="rect">
            <a:avLst/>
          </a:prstGeom>
          <a:solidFill>
            <a:srgbClr val="1C4587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700" b="1">
                <a:solidFill>
                  <a:schemeClr val="dk1"/>
                </a:solidFill>
              </a:rPr>
              <a:t>健康は「コスト」ではなく、</a:t>
            </a:r>
            <a:endParaRPr sz="27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700" b="1">
                <a:solidFill>
                  <a:schemeClr val="dk1"/>
                </a:solidFill>
              </a:rPr>
              <a:t>未来の資産を創る「投資」です。</a:t>
            </a:r>
            <a:endParaRPr sz="2700" b="1">
              <a:solidFill>
                <a:schemeClr val="dk1"/>
              </a:solidFill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1"/>
          </p:nvPr>
        </p:nvSpPr>
        <p:spPr>
          <a:xfrm>
            <a:off x="341200" y="2770780"/>
            <a:ext cx="8416200" cy="1764300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/>
              <a:t>長崎県が「健康」という切り口で経済を成長させることは、可能なことがわかりました。</a:t>
            </a:r>
            <a:endParaRPr sz="14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単なる給付改善ではなく、県民の手取りを増やし地域経済の好循環を生み出す一つです。</a:t>
            </a:r>
            <a:endParaRPr sz="140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400"/>
              <a:t>データを、長崎の未来を変えるアクションに繋げていければと思います。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CD3C65A-B2AF-439E-BC60-0EFEB21E42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301C1E-9450-4EEF-82ED-D0AB066AF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145a60-8193-4ef9-9bfb-5be5473dd1fb"/>
    <ds:schemaRef ds:uri="cf6b417a-a01e-4c9e-86f7-df4e372b5e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663881-C564-45C9-961F-F73FA4CD5A04}">
  <ds:schemaRefs>
    <ds:schemaRef ds:uri="http://schemas.microsoft.com/office/2006/metadata/properties"/>
    <ds:schemaRef ds:uri="http://schemas.microsoft.com/office/infopath/2007/PartnerControls"/>
    <ds:schemaRef ds:uri="cf6b417a-a01e-4c9e-86f7-df4e372b5e16"/>
    <ds:schemaRef ds:uri="09145a60-8193-4ef9-9bfb-5be5473dd1f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Shift</vt:lpstr>
      <vt:lpstr>データ分析で挑戦！ 「長崎県民の手取りを増やす」 健康プロジェクト</vt:lpstr>
      <vt:lpstr>協会けんぽ長崎支部の保険料率について</vt:lpstr>
      <vt:lpstr>見過ごされている「お金」の現実</vt:lpstr>
      <vt:lpstr>PowerPoint Presentation</vt:lpstr>
      <vt:lpstr>九州が抱える構造的なハンディ</vt:lpstr>
      <vt:lpstr>PowerPoint Presentation</vt:lpstr>
      <vt:lpstr>年間「170億円」について</vt:lpstr>
      <vt:lpstr>PowerPoint Presentation</vt:lpstr>
      <vt:lpstr>データ分析開始と、確認作業、軌道修正</vt:lpstr>
      <vt:lpstr>真の「阻害要因」はどこにあるのか？ </vt:lpstr>
      <vt:lpstr>地域特性という巨大な壁（病床数との相関）</vt:lpstr>
      <vt:lpstr>アプローチ</vt:lpstr>
      <vt:lpstr>アプローチについて</vt:lpstr>
      <vt:lpstr>成果物① 保険料削減シミュレーター </vt:lpstr>
      <vt:lpstr>成果物② 分析レポート（何が効かないか）</vt:lpstr>
      <vt:lpstr>成果物③ 分析レポート（何が効くのか）</vt:lpstr>
      <vt:lpstr>今後の展望（第2期へ） </vt:lpstr>
      <vt:lpstr>まとめ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2026-08-22T05:03:50Z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